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</p:sldIdLst>
  <p:sldSz cy="5143500" cx="9144000"/>
  <p:notesSz cx="6858000" cy="9144000"/>
  <p:embeddedFontLst>
    <p:embeddedFont>
      <p:font typeface="Inter"/>
      <p:regular r:id="rId44"/>
      <p:bold r:id="rId45"/>
      <p:italic r:id="rId46"/>
      <p:boldItalic r:id="rId47"/>
    </p:embeddedFont>
    <p:embeddedFont>
      <p:font typeface="JetBrains Mono"/>
      <p:regular r:id="rId48"/>
      <p:bold r:id="rId49"/>
      <p:italic r:id="rId50"/>
      <p:boldItalic r:id="rId5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font" Target="fonts/Inter-regular.fntdata"/><Relationship Id="rId43" Type="http://schemas.openxmlformats.org/officeDocument/2006/relationships/slide" Target="slides/slide37.xml"/><Relationship Id="rId46" Type="http://schemas.openxmlformats.org/officeDocument/2006/relationships/font" Target="fonts/Inter-italic.fntdata"/><Relationship Id="rId45" Type="http://schemas.openxmlformats.org/officeDocument/2006/relationships/font" Target="fonts/Inter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48" Type="http://schemas.openxmlformats.org/officeDocument/2006/relationships/font" Target="fonts/JetBrainsMono-regular.fntdata"/><Relationship Id="rId47" Type="http://schemas.openxmlformats.org/officeDocument/2006/relationships/font" Target="fonts/Inter-boldItalic.fntdata"/><Relationship Id="rId49" Type="http://schemas.openxmlformats.org/officeDocument/2006/relationships/font" Target="fonts/JetBrainsMono-bold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font" Target="fonts/JetBrainsMono-boldItalic.fntdata"/><Relationship Id="rId50" Type="http://schemas.openxmlformats.org/officeDocument/2006/relationships/font" Target="fonts/JetBrainsMono-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aabf27a5b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g3aabf27a5b4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aabf27a5b4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g3aabf27a5b4_0_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aabf27a5b4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g3aabf27a5b4_0_2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aabf27a5b4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g3aabf27a5b4_0_4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aabf27a5b4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g3aabf27a5b4_0_6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aabf27a5b4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g3aabf27a5b4_0_10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aabf27a5b4_0_7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g3aabf27a5b4_0_76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aabf27a5b4_0_3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g3aabf27a5b4_0_3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aabf27a5b4_0_3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g3aabf27a5b4_0_32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aabf27a5b4_0_4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g3aabf27a5b4_0_43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3aabf27a5b4_0_13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g3aabf27a5b4_0_139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3aabf27a5b4_0_4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g3aabf27a5b4_0_44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3aabf27a5b4_0_4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g3aabf27a5b4_0_45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3aabf27a5b4_0_4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g3aabf27a5b4_0_47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3aabf27a5b4_0_14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g3aabf27a5b4_0_149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3aabf27a5b4_0_22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g3aabf27a5b4_0_222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g3aabf27a5b4_0_15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g3aabf27a5b4_0_157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3aabf27a5b4_0_8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g3aabf27a5b4_0_85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3aabf27a5b4_0_5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g3aabf27a5b4_0_56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3aabf27a5b4_0_5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g3aabf27a5b4_0_58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g3aabf27a5b4_0_10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g3aabf27a5b4_0_10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g3aabf27a5b4_0_12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g3aabf27a5b4_0_120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g3aabf27a5b4_0_23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g3aabf27a5b4_0_23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g3aabf27a5b4_0_9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" name="Google Shape;540;g3aabf27a5b4_0_93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g3aabf27a5b4_0_13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9" name="Google Shape;549;g3aabf27a5b4_0_130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g3aabf27a5b4_0_16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9" name="Google Shape;569;g3aabf27a5b4_0_167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g3aabf27a5b4_0_1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8" name="Google Shape;588;g3aabf27a5b4_0_111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g3aabf27a5b4_0_17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9" name="Google Shape;609;g3aabf27a5b4_0_176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g3aabf27a5b4_0_24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g3aabf27a5b4_0_240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g3aabf27a5b4_0_20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7" name="Google Shape;637;g3aabf27a5b4_0_204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g3aabf27a5b4_0_25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3" name="Google Shape;653;g3aabf27a5b4_0_250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4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g3aabf27a5b4_0_26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6" name="Google Shape;676;g3aabf27a5b4_0_260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g3aabf27a5b4_0_27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2" name="Google Shape;702;g3aabf27a5b4_0_270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0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g3aabf27a5b4_0_27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2" name="Google Shape;712;g3aabf27a5b4_0_272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6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g3aabf27a5b4_0_18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8" name="Google Shape;728;g3aabf27a5b4_0_186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3aabf27a5b4_0_19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9" name="Google Shape;739;g3aabf27a5b4_0_194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8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g3aabf27a5b4_0_2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0" name="Google Shape;750;g3aabf27a5b4_0_213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idx="10" type="dt"/>
          </p:nvPr>
        </p:nvSpPr>
        <p:spPr>
          <a:xfrm>
            <a:off x="342900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1" type="ftr"/>
          </p:nvPr>
        </p:nvSpPr>
        <p:spPr>
          <a:xfrm>
            <a:off x="2343150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4914900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type="ctrTitle"/>
          </p:nvPr>
        </p:nvSpPr>
        <p:spPr>
          <a:xfrm>
            <a:off x="514350" y="1597819"/>
            <a:ext cx="5829300" cy="110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2" name="Google Shape;62;p15"/>
          <p:cNvSpPr txBox="1"/>
          <p:nvPr>
            <p:ph idx="1" type="subTitle"/>
          </p:nvPr>
        </p:nvSpPr>
        <p:spPr>
          <a:xfrm>
            <a:off x="1028700" y="2914650"/>
            <a:ext cx="4800600" cy="13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1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3" name="Google Shape;63;p15"/>
          <p:cNvSpPr txBox="1"/>
          <p:nvPr>
            <p:ph idx="10" type="dt"/>
          </p:nvPr>
        </p:nvSpPr>
        <p:spPr>
          <a:xfrm>
            <a:off x="342900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1" type="ftr"/>
          </p:nvPr>
        </p:nvSpPr>
        <p:spPr>
          <a:xfrm>
            <a:off x="2343150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2" type="sldNum"/>
          </p:nvPr>
        </p:nvSpPr>
        <p:spPr>
          <a:xfrm>
            <a:off x="4914900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>
            <p:ph type="title"/>
          </p:nvPr>
        </p:nvSpPr>
        <p:spPr>
          <a:xfrm>
            <a:off x="342900" y="205978"/>
            <a:ext cx="61722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" type="body"/>
          </p:nvPr>
        </p:nvSpPr>
        <p:spPr>
          <a:xfrm>
            <a:off x="342900" y="1200150"/>
            <a:ext cx="61722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0" type="dt"/>
          </p:nvPr>
        </p:nvSpPr>
        <p:spPr>
          <a:xfrm>
            <a:off x="342900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1" type="ftr"/>
          </p:nvPr>
        </p:nvSpPr>
        <p:spPr>
          <a:xfrm>
            <a:off x="2343150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2" type="sldNum"/>
          </p:nvPr>
        </p:nvSpPr>
        <p:spPr>
          <a:xfrm>
            <a:off x="4914900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/>
          <p:nvPr>
            <p:ph type="title"/>
          </p:nvPr>
        </p:nvSpPr>
        <p:spPr>
          <a:xfrm>
            <a:off x="541735" y="3305175"/>
            <a:ext cx="5829300" cy="1021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  <a:defRPr b="1" sz="3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p17"/>
          <p:cNvSpPr txBox="1"/>
          <p:nvPr>
            <p:ph idx="1" type="body"/>
          </p:nvPr>
        </p:nvSpPr>
        <p:spPr>
          <a:xfrm>
            <a:off x="541735" y="2180035"/>
            <a:ext cx="5829300" cy="1125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5" name="Google Shape;75;p17"/>
          <p:cNvSpPr txBox="1"/>
          <p:nvPr>
            <p:ph idx="10" type="dt"/>
          </p:nvPr>
        </p:nvSpPr>
        <p:spPr>
          <a:xfrm>
            <a:off x="342900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1" type="ftr"/>
          </p:nvPr>
        </p:nvSpPr>
        <p:spPr>
          <a:xfrm>
            <a:off x="2343150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2" type="sldNum"/>
          </p:nvPr>
        </p:nvSpPr>
        <p:spPr>
          <a:xfrm>
            <a:off x="4914900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title"/>
          </p:nvPr>
        </p:nvSpPr>
        <p:spPr>
          <a:xfrm>
            <a:off x="342900" y="205978"/>
            <a:ext cx="61722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p18"/>
          <p:cNvSpPr txBox="1"/>
          <p:nvPr>
            <p:ph idx="1" type="body"/>
          </p:nvPr>
        </p:nvSpPr>
        <p:spPr>
          <a:xfrm>
            <a:off x="342900" y="1200150"/>
            <a:ext cx="30291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81" name="Google Shape;81;p18"/>
          <p:cNvSpPr txBox="1"/>
          <p:nvPr>
            <p:ph idx="2" type="body"/>
          </p:nvPr>
        </p:nvSpPr>
        <p:spPr>
          <a:xfrm>
            <a:off x="3486150" y="1200150"/>
            <a:ext cx="30291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82" name="Google Shape;82;p18"/>
          <p:cNvSpPr txBox="1"/>
          <p:nvPr>
            <p:ph idx="10" type="dt"/>
          </p:nvPr>
        </p:nvSpPr>
        <p:spPr>
          <a:xfrm>
            <a:off x="342900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1" type="ftr"/>
          </p:nvPr>
        </p:nvSpPr>
        <p:spPr>
          <a:xfrm>
            <a:off x="2343150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2" type="sldNum"/>
          </p:nvPr>
        </p:nvSpPr>
        <p:spPr>
          <a:xfrm>
            <a:off x="4914900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/>
          <p:nvPr>
            <p:ph type="title"/>
          </p:nvPr>
        </p:nvSpPr>
        <p:spPr>
          <a:xfrm>
            <a:off x="342900" y="205978"/>
            <a:ext cx="61722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7" name="Google Shape;87;p19"/>
          <p:cNvSpPr txBox="1"/>
          <p:nvPr>
            <p:ph idx="1" type="body"/>
          </p:nvPr>
        </p:nvSpPr>
        <p:spPr>
          <a:xfrm>
            <a:off x="342900" y="1151335"/>
            <a:ext cx="30300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8" name="Google Shape;88;p19"/>
          <p:cNvSpPr txBox="1"/>
          <p:nvPr>
            <p:ph idx="2" type="body"/>
          </p:nvPr>
        </p:nvSpPr>
        <p:spPr>
          <a:xfrm>
            <a:off x="342900" y="1631156"/>
            <a:ext cx="3030000" cy="29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89" name="Google Shape;89;p19"/>
          <p:cNvSpPr txBox="1"/>
          <p:nvPr>
            <p:ph idx="3" type="body"/>
          </p:nvPr>
        </p:nvSpPr>
        <p:spPr>
          <a:xfrm>
            <a:off x="3483769" y="1151335"/>
            <a:ext cx="30315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90" name="Google Shape;90;p19"/>
          <p:cNvSpPr txBox="1"/>
          <p:nvPr>
            <p:ph idx="4" type="body"/>
          </p:nvPr>
        </p:nvSpPr>
        <p:spPr>
          <a:xfrm>
            <a:off x="3483769" y="1631156"/>
            <a:ext cx="3031500" cy="29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91" name="Google Shape;91;p19"/>
          <p:cNvSpPr txBox="1"/>
          <p:nvPr>
            <p:ph idx="10" type="dt"/>
          </p:nvPr>
        </p:nvSpPr>
        <p:spPr>
          <a:xfrm>
            <a:off x="342900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1" type="ftr"/>
          </p:nvPr>
        </p:nvSpPr>
        <p:spPr>
          <a:xfrm>
            <a:off x="2343150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2" type="sldNum"/>
          </p:nvPr>
        </p:nvSpPr>
        <p:spPr>
          <a:xfrm>
            <a:off x="4914900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>
            <p:ph type="title"/>
          </p:nvPr>
        </p:nvSpPr>
        <p:spPr>
          <a:xfrm>
            <a:off x="342900" y="205978"/>
            <a:ext cx="61722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6" name="Google Shape;96;p20"/>
          <p:cNvSpPr txBox="1"/>
          <p:nvPr>
            <p:ph idx="10" type="dt"/>
          </p:nvPr>
        </p:nvSpPr>
        <p:spPr>
          <a:xfrm>
            <a:off x="342900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1" type="ftr"/>
          </p:nvPr>
        </p:nvSpPr>
        <p:spPr>
          <a:xfrm>
            <a:off x="2343150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4914900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342900" y="204788"/>
            <a:ext cx="2256300" cy="8718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1" sz="1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2681288" y="204788"/>
            <a:ext cx="3833700" cy="43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 sz="2100"/>
            </a:lvl2pPr>
            <a:lvl3pPr indent="-3429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4pPr>
            <a:lvl5pPr indent="-32385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 sz="1500"/>
            </a:lvl5pPr>
            <a:lvl6pPr indent="-32385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02" name="Google Shape;102;p21"/>
          <p:cNvSpPr txBox="1"/>
          <p:nvPr>
            <p:ph idx="2" type="body"/>
          </p:nvPr>
        </p:nvSpPr>
        <p:spPr>
          <a:xfrm>
            <a:off x="342900" y="1076325"/>
            <a:ext cx="2256300" cy="35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03" name="Google Shape;103;p21"/>
          <p:cNvSpPr txBox="1"/>
          <p:nvPr>
            <p:ph idx="10" type="dt"/>
          </p:nvPr>
        </p:nvSpPr>
        <p:spPr>
          <a:xfrm>
            <a:off x="342900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1" type="ftr"/>
          </p:nvPr>
        </p:nvSpPr>
        <p:spPr>
          <a:xfrm>
            <a:off x="2343150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4914900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1344216" y="3600450"/>
            <a:ext cx="4114800" cy="4251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1" sz="1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8" name="Google Shape;108;p22"/>
          <p:cNvSpPr/>
          <p:nvPr>
            <p:ph idx="2" type="pic"/>
          </p:nvPr>
        </p:nvSpPr>
        <p:spPr>
          <a:xfrm>
            <a:off x="1344216" y="459581"/>
            <a:ext cx="41148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1344216" y="4025504"/>
            <a:ext cx="41148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342900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2343150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4914900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342900" y="205978"/>
            <a:ext cx="61722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 rot="5400000">
            <a:off x="1731750" y="-188700"/>
            <a:ext cx="3394500" cy="61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342900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2343150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4914900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 rot="5400000">
            <a:off x="3549300" y="1628879"/>
            <a:ext cx="4388700" cy="15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406050" y="142978"/>
            <a:ext cx="4388700" cy="451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342900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2343150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4914900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42900" y="205978"/>
            <a:ext cx="61722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2900" y="1200150"/>
            <a:ext cx="61722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marR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342900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2343150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4914900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3.png"/><Relationship Id="rId5" Type="http://schemas.openxmlformats.org/officeDocument/2006/relationships/image" Target="../media/image5.png"/><Relationship Id="rId6" Type="http://schemas.openxmlformats.org/officeDocument/2006/relationships/image" Target="../media/image4.png"/><Relationship Id="rId7" Type="http://schemas.openxmlformats.org/officeDocument/2006/relationships/image" Target="../media/image10.png"/><Relationship Id="rId8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3.png"/><Relationship Id="rId9" Type="http://schemas.openxmlformats.org/officeDocument/2006/relationships/image" Target="../media/image22.png"/><Relationship Id="rId5" Type="http://schemas.openxmlformats.org/officeDocument/2006/relationships/image" Target="../media/image14.png"/><Relationship Id="rId6" Type="http://schemas.openxmlformats.org/officeDocument/2006/relationships/image" Target="../media/image17.png"/><Relationship Id="rId7" Type="http://schemas.openxmlformats.org/officeDocument/2006/relationships/image" Target="../media/image20.png"/><Relationship Id="rId8" Type="http://schemas.openxmlformats.org/officeDocument/2006/relationships/image" Target="../media/image1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21.png"/><Relationship Id="rId5" Type="http://schemas.openxmlformats.org/officeDocument/2006/relationships/image" Target="../media/image3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2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24.png"/></Relationships>
</file>

<file path=ppt/slides/_rels/slide9.xml.rels><?xml version="1.0" encoding="UTF-8" standalone="yes"?><Relationships xmlns="http://schemas.openxmlformats.org/package/2006/relationships"><Relationship Id="rId11" Type="http://schemas.openxmlformats.org/officeDocument/2006/relationships/image" Target="../media/image29.png"/><Relationship Id="rId10" Type="http://schemas.openxmlformats.org/officeDocument/2006/relationships/image" Target="../media/image28.png"/><Relationship Id="rId13" Type="http://schemas.openxmlformats.org/officeDocument/2006/relationships/image" Target="../media/image35.png"/><Relationship Id="rId12" Type="http://schemas.openxmlformats.org/officeDocument/2006/relationships/image" Target="../media/image37.png"/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Relationship Id="rId4" Type="http://schemas.openxmlformats.org/officeDocument/2006/relationships/image" Target="../media/image23.png"/><Relationship Id="rId9" Type="http://schemas.openxmlformats.org/officeDocument/2006/relationships/image" Target="../media/image39.png"/><Relationship Id="rId5" Type="http://schemas.openxmlformats.org/officeDocument/2006/relationships/image" Target="../media/image34.png"/><Relationship Id="rId6" Type="http://schemas.openxmlformats.org/officeDocument/2006/relationships/image" Target="../media/image38.png"/><Relationship Id="rId7" Type="http://schemas.openxmlformats.org/officeDocument/2006/relationships/image" Target="../media/image30.png"/><Relationship Id="rId8" Type="http://schemas.openxmlformats.org/officeDocument/2006/relationships/image" Target="../media/image2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Relationship Id="rId4" Type="http://schemas.openxmlformats.org/officeDocument/2006/relationships/image" Target="../media/image3.png"/><Relationship Id="rId5" Type="http://schemas.openxmlformats.org/officeDocument/2006/relationships/image" Target="../media/image43.png"/><Relationship Id="rId6" Type="http://schemas.openxmlformats.org/officeDocument/2006/relationships/image" Target="../media/image47.png"/><Relationship Id="rId7" Type="http://schemas.openxmlformats.org/officeDocument/2006/relationships/image" Target="../media/image4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Relationship Id="rId4" Type="http://schemas.openxmlformats.org/officeDocument/2006/relationships/image" Target="../media/image21.png"/><Relationship Id="rId5" Type="http://schemas.openxmlformats.org/officeDocument/2006/relationships/image" Target="../media/image41.png"/><Relationship Id="rId6" Type="http://schemas.openxmlformats.org/officeDocument/2006/relationships/image" Target="../media/image48.png"/><Relationship Id="rId7" Type="http://schemas.openxmlformats.org/officeDocument/2006/relationships/image" Target="../media/image40.png"/><Relationship Id="rId8" Type="http://schemas.openxmlformats.org/officeDocument/2006/relationships/image" Target="../media/image4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Relationship Id="rId4" Type="http://schemas.openxmlformats.org/officeDocument/2006/relationships/image" Target="../media/image21.png"/><Relationship Id="rId5" Type="http://schemas.openxmlformats.org/officeDocument/2006/relationships/image" Target="../media/image46.png"/><Relationship Id="rId6" Type="http://schemas.openxmlformats.org/officeDocument/2006/relationships/image" Target="../media/image45.png"/><Relationship Id="rId7" Type="http://schemas.openxmlformats.org/officeDocument/2006/relationships/image" Target="../media/image5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Relationship Id="rId4" Type="http://schemas.openxmlformats.org/officeDocument/2006/relationships/image" Target="../media/image3.png"/><Relationship Id="rId5" Type="http://schemas.openxmlformats.org/officeDocument/2006/relationships/image" Target="../media/image50.png"/><Relationship Id="rId6" Type="http://schemas.openxmlformats.org/officeDocument/2006/relationships/image" Target="../media/image55.png"/><Relationship Id="rId7" Type="http://schemas.openxmlformats.org/officeDocument/2006/relationships/image" Target="../media/image44.png"/></Relationships>
</file>

<file path=ppt/slides/_rels/slide14.xml.rels><?xml version="1.0" encoding="UTF-8" standalone="yes"?><Relationships xmlns="http://schemas.openxmlformats.org/package/2006/relationships"><Relationship Id="rId11" Type="http://schemas.openxmlformats.org/officeDocument/2006/relationships/image" Target="../media/image67.png"/><Relationship Id="rId10" Type="http://schemas.openxmlformats.org/officeDocument/2006/relationships/image" Target="../media/image60.png"/><Relationship Id="rId12" Type="http://schemas.openxmlformats.org/officeDocument/2006/relationships/image" Target="../media/image63.png"/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Relationship Id="rId4" Type="http://schemas.openxmlformats.org/officeDocument/2006/relationships/image" Target="../media/image58.png"/><Relationship Id="rId9" Type="http://schemas.openxmlformats.org/officeDocument/2006/relationships/image" Target="../media/image65.png"/><Relationship Id="rId5" Type="http://schemas.openxmlformats.org/officeDocument/2006/relationships/image" Target="../media/image49.png"/><Relationship Id="rId6" Type="http://schemas.openxmlformats.org/officeDocument/2006/relationships/image" Target="../media/image57.png"/><Relationship Id="rId7" Type="http://schemas.openxmlformats.org/officeDocument/2006/relationships/image" Target="../media/image61.png"/><Relationship Id="rId8" Type="http://schemas.openxmlformats.org/officeDocument/2006/relationships/image" Target="../media/image6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png"/><Relationship Id="rId4" Type="http://schemas.openxmlformats.org/officeDocument/2006/relationships/image" Target="../media/image71.png"/><Relationship Id="rId5" Type="http://schemas.openxmlformats.org/officeDocument/2006/relationships/image" Target="../media/image6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.png"/><Relationship Id="rId4" Type="http://schemas.openxmlformats.org/officeDocument/2006/relationships/image" Target="../media/image6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7.png"/><Relationship Id="rId4" Type="http://schemas.openxmlformats.org/officeDocument/2006/relationships/image" Target="../media/image66.png"/><Relationship Id="rId5" Type="http://schemas.openxmlformats.org/officeDocument/2006/relationships/image" Target="../media/image7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7.png"/><Relationship Id="rId4" Type="http://schemas.openxmlformats.org/officeDocument/2006/relationships/image" Target="../media/image6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7.png"/><Relationship Id="rId4" Type="http://schemas.openxmlformats.org/officeDocument/2006/relationships/image" Target="../media/image21.png"/><Relationship Id="rId5" Type="http://schemas.openxmlformats.org/officeDocument/2006/relationships/image" Target="../media/image77.png"/><Relationship Id="rId6" Type="http://schemas.openxmlformats.org/officeDocument/2006/relationships/image" Target="../media/image70.png"/><Relationship Id="rId7" Type="http://schemas.openxmlformats.org/officeDocument/2006/relationships/image" Target="../media/image73.png"/></Relationships>
</file>

<file path=ppt/slides/_rels/slide20.xml.rels><?xml version="1.0" encoding="UTF-8" standalone="yes"?><Relationships xmlns="http://schemas.openxmlformats.org/package/2006/relationships"><Relationship Id="rId11" Type="http://schemas.openxmlformats.org/officeDocument/2006/relationships/image" Target="../media/image90.png"/><Relationship Id="rId10" Type="http://schemas.openxmlformats.org/officeDocument/2006/relationships/image" Target="../media/image82.png"/><Relationship Id="rId13" Type="http://schemas.openxmlformats.org/officeDocument/2006/relationships/image" Target="../media/image88.png"/><Relationship Id="rId12" Type="http://schemas.openxmlformats.org/officeDocument/2006/relationships/image" Target="../media/image83.png"/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7.png"/><Relationship Id="rId4" Type="http://schemas.openxmlformats.org/officeDocument/2006/relationships/image" Target="../media/image76.png"/><Relationship Id="rId9" Type="http://schemas.openxmlformats.org/officeDocument/2006/relationships/image" Target="../media/image81.png"/><Relationship Id="rId14" Type="http://schemas.openxmlformats.org/officeDocument/2006/relationships/image" Target="../media/image89.png"/><Relationship Id="rId5" Type="http://schemas.openxmlformats.org/officeDocument/2006/relationships/image" Target="../media/image78.png"/><Relationship Id="rId6" Type="http://schemas.openxmlformats.org/officeDocument/2006/relationships/image" Target="../media/image79.png"/><Relationship Id="rId7" Type="http://schemas.openxmlformats.org/officeDocument/2006/relationships/image" Target="../media/image74.png"/><Relationship Id="rId8" Type="http://schemas.openxmlformats.org/officeDocument/2006/relationships/image" Target="../media/image7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7.png"/><Relationship Id="rId4" Type="http://schemas.openxmlformats.org/officeDocument/2006/relationships/image" Target="../media/image3.png"/><Relationship Id="rId5" Type="http://schemas.openxmlformats.org/officeDocument/2006/relationships/image" Target="../media/image84.png"/><Relationship Id="rId6" Type="http://schemas.openxmlformats.org/officeDocument/2006/relationships/image" Target="../media/image87.png"/><Relationship Id="rId7" Type="http://schemas.openxmlformats.org/officeDocument/2006/relationships/image" Target="../media/image8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7.png"/><Relationship Id="rId4" Type="http://schemas.openxmlformats.org/officeDocument/2006/relationships/image" Target="../media/image93.png"/><Relationship Id="rId5" Type="http://schemas.openxmlformats.org/officeDocument/2006/relationships/image" Target="../media/image9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7.png"/><Relationship Id="rId4" Type="http://schemas.openxmlformats.org/officeDocument/2006/relationships/image" Target="../media/image3.png"/><Relationship Id="rId5" Type="http://schemas.openxmlformats.org/officeDocument/2006/relationships/image" Target="../media/image95.png"/><Relationship Id="rId6" Type="http://schemas.openxmlformats.org/officeDocument/2006/relationships/image" Target="../media/image105.png"/><Relationship Id="rId7" Type="http://schemas.openxmlformats.org/officeDocument/2006/relationships/image" Target="../media/image91.png"/><Relationship Id="rId8" Type="http://schemas.openxmlformats.org/officeDocument/2006/relationships/image" Target="../media/image10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00.png"/><Relationship Id="rId4" Type="http://schemas.openxmlformats.org/officeDocument/2006/relationships/image" Target="../media/image97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7.png"/><Relationship Id="rId4" Type="http://schemas.openxmlformats.org/officeDocument/2006/relationships/image" Target="../media/image3.png"/><Relationship Id="rId9" Type="http://schemas.openxmlformats.org/officeDocument/2006/relationships/image" Target="../media/image106.png"/><Relationship Id="rId5" Type="http://schemas.openxmlformats.org/officeDocument/2006/relationships/image" Target="../media/image94.png"/><Relationship Id="rId6" Type="http://schemas.openxmlformats.org/officeDocument/2006/relationships/image" Target="../media/image99.png"/><Relationship Id="rId7" Type="http://schemas.openxmlformats.org/officeDocument/2006/relationships/image" Target="../media/image96.png"/><Relationship Id="rId8" Type="http://schemas.openxmlformats.org/officeDocument/2006/relationships/image" Target="../media/image107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7.png"/><Relationship Id="rId4" Type="http://schemas.openxmlformats.org/officeDocument/2006/relationships/image" Target="../media/image101.png"/><Relationship Id="rId5" Type="http://schemas.openxmlformats.org/officeDocument/2006/relationships/image" Target="../media/image103.png"/><Relationship Id="rId6" Type="http://schemas.openxmlformats.org/officeDocument/2006/relationships/image" Target="../media/image104.png"/><Relationship Id="rId7" Type="http://schemas.openxmlformats.org/officeDocument/2006/relationships/image" Target="../media/image112.png"/></Relationships>
</file>

<file path=ppt/slides/_rels/slide27.xml.rels><?xml version="1.0" encoding="UTF-8" standalone="yes"?><Relationships xmlns="http://schemas.openxmlformats.org/package/2006/relationships"><Relationship Id="rId10" Type="http://schemas.openxmlformats.org/officeDocument/2006/relationships/image" Target="../media/image111.png"/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7.png"/><Relationship Id="rId4" Type="http://schemas.openxmlformats.org/officeDocument/2006/relationships/image" Target="../media/image119.png"/><Relationship Id="rId9" Type="http://schemas.openxmlformats.org/officeDocument/2006/relationships/image" Target="../media/image115.png"/><Relationship Id="rId5" Type="http://schemas.openxmlformats.org/officeDocument/2006/relationships/image" Target="../media/image110.png"/><Relationship Id="rId6" Type="http://schemas.openxmlformats.org/officeDocument/2006/relationships/image" Target="../media/image114.png"/><Relationship Id="rId7" Type="http://schemas.openxmlformats.org/officeDocument/2006/relationships/image" Target="../media/image118.png"/><Relationship Id="rId8" Type="http://schemas.openxmlformats.org/officeDocument/2006/relationships/image" Target="../media/image109.png"/></Relationships>
</file>

<file path=ppt/slides/_rels/slide28.xml.rels><?xml version="1.0" encoding="UTF-8" standalone="yes"?><Relationships xmlns="http://schemas.openxmlformats.org/package/2006/relationships"><Relationship Id="rId10" Type="http://schemas.openxmlformats.org/officeDocument/2006/relationships/image" Target="../media/image124.png"/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7.png"/><Relationship Id="rId4" Type="http://schemas.openxmlformats.org/officeDocument/2006/relationships/image" Target="../media/image21.png"/><Relationship Id="rId9" Type="http://schemas.openxmlformats.org/officeDocument/2006/relationships/image" Target="../media/image116.png"/><Relationship Id="rId5" Type="http://schemas.openxmlformats.org/officeDocument/2006/relationships/image" Target="../media/image121.png"/><Relationship Id="rId6" Type="http://schemas.openxmlformats.org/officeDocument/2006/relationships/image" Target="../media/image113.png"/><Relationship Id="rId7" Type="http://schemas.openxmlformats.org/officeDocument/2006/relationships/image" Target="../media/image120.png"/><Relationship Id="rId8" Type="http://schemas.openxmlformats.org/officeDocument/2006/relationships/image" Target="../media/image117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7.png"/><Relationship Id="rId4" Type="http://schemas.openxmlformats.org/officeDocument/2006/relationships/image" Target="../media/image129.png"/><Relationship Id="rId5" Type="http://schemas.openxmlformats.org/officeDocument/2006/relationships/image" Target="../media/image64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7.png"/><Relationship Id="rId4" Type="http://schemas.openxmlformats.org/officeDocument/2006/relationships/image" Target="../media/image132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7.png"/><Relationship Id="rId4" Type="http://schemas.openxmlformats.org/officeDocument/2006/relationships/image" Target="../media/image3.png"/><Relationship Id="rId5" Type="http://schemas.openxmlformats.org/officeDocument/2006/relationships/image" Target="../media/image126.png"/><Relationship Id="rId6" Type="http://schemas.openxmlformats.org/officeDocument/2006/relationships/image" Target="../media/image128.png"/><Relationship Id="rId7" Type="http://schemas.openxmlformats.org/officeDocument/2006/relationships/image" Target="../media/image130.png"/><Relationship Id="rId8" Type="http://schemas.openxmlformats.org/officeDocument/2006/relationships/image" Target="../media/image134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7.png"/><Relationship Id="rId4" Type="http://schemas.openxmlformats.org/officeDocument/2006/relationships/image" Target="../media/image3.png"/><Relationship Id="rId5" Type="http://schemas.openxmlformats.org/officeDocument/2006/relationships/image" Target="../media/image133.png"/><Relationship Id="rId6" Type="http://schemas.openxmlformats.org/officeDocument/2006/relationships/image" Target="../media/image128.png"/><Relationship Id="rId7" Type="http://schemas.openxmlformats.org/officeDocument/2006/relationships/image" Target="../media/image130.png"/><Relationship Id="rId8" Type="http://schemas.openxmlformats.org/officeDocument/2006/relationships/image" Target="../media/image134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7.png"/><Relationship Id="rId4" Type="http://schemas.openxmlformats.org/officeDocument/2006/relationships/image" Target="../media/image129.png"/><Relationship Id="rId5" Type="http://schemas.openxmlformats.org/officeDocument/2006/relationships/image" Target="../media/image64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7.png"/><Relationship Id="rId4" Type="http://schemas.openxmlformats.org/officeDocument/2006/relationships/image" Target="../media/image136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7.png"/><Relationship Id="rId4" Type="http://schemas.openxmlformats.org/officeDocument/2006/relationships/image" Target="../media/image138.png"/><Relationship Id="rId5" Type="http://schemas.openxmlformats.org/officeDocument/2006/relationships/image" Target="../media/image139.png"/><Relationship Id="rId6" Type="http://schemas.openxmlformats.org/officeDocument/2006/relationships/image" Target="../media/image137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7.png"/><Relationship Id="rId4" Type="http://schemas.openxmlformats.org/officeDocument/2006/relationships/image" Target="../media/image138.png"/><Relationship Id="rId5" Type="http://schemas.openxmlformats.org/officeDocument/2006/relationships/image" Target="../media/image139.png"/><Relationship Id="rId6" Type="http://schemas.openxmlformats.org/officeDocument/2006/relationships/image" Target="../media/image137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9" name="Google Shape;129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25"/>
          <p:cNvSpPr txBox="1"/>
          <p:nvPr/>
        </p:nvSpPr>
        <p:spPr>
          <a:xfrm>
            <a:off x="1168050" y="1991650"/>
            <a:ext cx="68079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5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Computer Science</a:t>
            </a:r>
            <a:r>
              <a:rPr b="1" i="0" lang="en" sz="45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lang="en" sz="4500">
                <a:solidFill>
                  <a:srgbClr val="00FF9D"/>
                </a:solidFill>
                <a:latin typeface="Inter"/>
                <a:ea typeface="Inter"/>
                <a:cs typeface="Inter"/>
                <a:sym typeface="Inter"/>
              </a:rPr>
              <a:t>101</a:t>
            </a:r>
            <a:endParaRPr sz="1100"/>
          </a:p>
        </p:txBody>
      </p:sp>
      <p:sp>
        <p:nvSpPr>
          <p:cNvPr id="131" name="Google Shape;131;p25"/>
          <p:cNvSpPr txBox="1"/>
          <p:nvPr/>
        </p:nvSpPr>
        <p:spPr>
          <a:xfrm>
            <a:off x="2000250" y="3046205"/>
            <a:ext cx="5143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6666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Let’s Explore Under the Hood</a:t>
            </a:r>
            <a:endParaRPr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6" name="Google Shape;136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7" name="Google Shape;137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86313" y="1685366"/>
            <a:ext cx="3921919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8" name="Google Shape;138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5769" y="3089113"/>
            <a:ext cx="3921919" cy="9001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9" name="Google Shape;139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032897" y="1953257"/>
            <a:ext cx="14287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0" name="Google Shape;140;p2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032897" y="2739070"/>
            <a:ext cx="1428750" cy="75009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1" name="Google Shape;141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032897" y="3817776"/>
            <a:ext cx="14287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6"/>
          <p:cNvSpPr txBox="1"/>
          <p:nvPr/>
        </p:nvSpPr>
        <p:spPr>
          <a:xfrm>
            <a:off x="435769" y="2096132"/>
            <a:ext cx="4118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6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High-Level Abstraction</a:t>
            </a:r>
            <a:endParaRPr sz="1100"/>
          </a:p>
        </p:txBody>
      </p:sp>
      <p:sp>
        <p:nvSpPr>
          <p:cNvPr id="143" name="Google Shape;143;p26"/>
          <p:cNvSpPr txBox="1"/>
          <p:nvPr/>
        </p:nvSpPr>
        <p:spPr>
          <a:xfrm>
            <a:off x="435769" y="2481895"/>
            <a:ext cx="3921900" cy="4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A3A3A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 Python, you type print() and magic happens. It's a comfortable illusion.</a:t>
            </a:r>
            <a:endParaRPr sz="1100"/>
          </a:p>
        </p:txBody>
      </p:sp>
      <p:sp>
        <p:nvSpPr>
          <p:cNvPr id="144" name="Google Shape;144;p26"/>
          <p:cNvSpPr txBox="1"/>
          <p:nvPr/>
        </p:nvSpPr>
        <p:spPr>
          <a:xfrm>
            <a:off x="585788" y="3389151"/>
            <a:ext cx="21432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900" u="none" cap="none" strike="noStrike">
                <a:solidFill>
                  <a:srgbClr val="55555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Where did this go in memory?</a:t>
            </a:r>
            <a:br>
              <a:rPr b="0" i="0" lang="en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1" lang="en" sz="900" u="none" cap="none" strike="noStrike">
                <a:solidFill>
                  <a:srgbClr val="55555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# How many bytes?</a:t>
            </a:r>
            <a:br>
              <a:rPr b="0" i="0" lang="en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1" lang="en" sz="900" u="none" cap="none" strike="noStrike">
                <a:solidFill>
                  <a:srgbClr val="55555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# Python hides this.</a:t>
            </a:r>
            <a:endParaRPr sz="1100"/>
          </a:p>
        </p:txBody>
      </p:sp>
      <p:pic>
        <p:nvPicPr>
          <p:cNvPr descr="image.png" id="145" name="Google Shape;145;p2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704409" y="2553332"/>
            <a:ext cx="85725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6" name="Google Shape;146;p2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704409" y="3560601"/>
            <a:ext cx="85725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26"/>
          <p:cNvSpPr txBox="1"/>
          <p:nvPr/>
        </p:nvSpPr>
        <p:spPr>
          <a:xfrm>
            <a:off x="6261424" y="2096113"/>
            <a:ext cx="9717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Python Code</a:t>
            </a:r>
            <a:endParaRPr sz="1100"/>
          </a:p>
        </p:txBody>
      </p:sp>
      <p:sp>
        <p:nvSpPr>
          <p:cNvPr id="148" name="Google Shape;148;p26"/>
          <p:cNvSpPr txBox="1"/>
          <p:nvPr/>
        </p:nvSpPr>
        <p:spPr>
          <a:xfrm>
            <a:off x="6640115" y="2967670"/>
            <a:ext cx="2145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00FF9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???</a:t>
            </a:r>
            <a:endParaRPr sz="1100"/>
          </a:p>
        </p:txBody>
      </p:sp>
      <p:sp>
        <p:nvSpPr>
          <p:cNvPr id="149" name="Google Shape;149;p26"/>
          <p:cNvSpPr txBox="1"/>
          <p:nvPr/>
        </p:nvSpPr>
        <p:spPr>
          <a:xfrm>
            <a:off x="6261497" y="3153407"/>
            <a:ext cx="971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444444"/>
                </a:solidFill>
                <a:latin typeface="Inter"/>
                <a:ea typeface="Inter"/>
                <a:cs typeface="Inter"/>
                <a:sym typeface="Inter"/>
              </a:rPr>
              <a:t>THE BLACK BOX</a:t>
            </a:r>
            <a:endParaRPr sz="1100"/>
          </a:p>
        </p:txBody>
      </p:sp>
      <p:sp>
        <p:nvSpPr>
          <p:cNvPr id="150" name="Google Shape;150;p26"/>
          <p:cNvSpPr txBox="1"/>
          <p:nvPr/>
        </p:nvSpPr>
        <p:spPr>
          <a:xfrm>
            <a:off x="6443663" y="3974939"/>
            <a:ext cx="6072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CPU / RAM</a:t>
            </a:r>
            <a:endParaRPr sz="1100"/>
          </a:p>
        </p:txBody>
      </p:sp>
      <p:sp>
        <p:nvSpPr>
          <p:cNvPr id="151" name="Google Shape;151;p26"/>
          <p:cNvSpPr txBox="1"/>
          <p:nvPr/>
        </p:nvSpPr>
        <p:spPr>
          <a:xfrm>
            <a:off x="435769" y="684795"/>
            <a:ext cx="8686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400" u="none" cap="none" strike="noStrike">
                <a:solidFill>
                  <a:srgbClr val="00FF9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THE LIE WE TELL YOU</a:t>
            </a:r>
            <a:endParaRPr sz="1100"/>
          </a:p>
        </p:txBody>
      </p:sp>
      <p:sp>
        <p:nvSpPr>
          <p:cNvPr id="152" name="Google Shape;152;p26"/>
          <p:cNvSpPr/>
          <p:nvPr/>
        </p:nvSpPr>
        <p:spPr>
          <a:xfrm>
            <a:off x="435769" y="1227720"/>
            <a:ext cx="8272500" cy="72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7" name="Google Shape;157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8" name="Google Shape;158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0" y="7144"/>
            <a:ext cx="4564856" cy="5129213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27"/>
          <p:cNvSpPr txBox="1"/>
          <p:nvPr/>
        </p:nvSpPr>
        <p:spPr>
          <a:xfrm>
            <a:off x="435769" y="1539478"/>
            <a:ext cx="3893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00FF9D"/>
                </a:solidFill>
                <a:latin typeface="Inter"/>
                <a:ea typeface="Inter"/>
                <a:cs typeface="Inter"/>
                <a:sym typeface="Inter"/>
              </a:rPr>
              <a:t>THE SWITCH</a:t>
            </a:r>
            <a:endParaRPr sz="1100"/>
          </a:p>
        </p:txBody>
      </p:sp>
      <p:sp>
        <p:nvSpPr>
          <p:cNvPr id="160" name="Google Shape;160;p27"/>
          <p:cNvSpPr txBox="1"/>
          <p:nvPr/>
        </p:nvSpPr>
        <p:spPr>
          <a:xfrm>
            <a:off x="435769" y="2031727"/>
            <a:ext cx="3707400" cy="7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A3A3A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Computers don't know "math". They only know electricity. A transistor is a microscopic switch.</a:t>
            </a:r>
            <a:endParaRPr sz="1100"/>
          </a:p>
        </p:txBody>
      </p:sp>
      <p:sp>
        <p:nvSpPr>
          <p:cNvPr id="161" name="Google Shape;161;p27"/>
          <p:cNvSpPr txBox="1"/>
          <p:nvPr/>
        </p:nvSpPr>
        <p:spPr>
          <a:xfrm>
            <a:off x="435769" y="3146152"/>
            <a:ext cx="3707400" cy="3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A3A3A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OFF (0V) = 0</a:t>
            </a:r>
            <a:br>
              <a:rPr b="0" i="0" lang="en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" sz="1100" u="none" cap="none" strike="noStrike">
                <a:solidFill>
                  <a:srgbClr val="A3A3A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ON  (5V) = 1</a:t>
            </a:r>
            <a:endParaRPr sz="1100"/>
          </a:p>
        </p:txBody>
      </p:sp>
      <p:sp>
        <p:nvSpPr>
          <p:cNvPr id="162" name="Google Shape;162;p27"/>
          <p:cNvSpPr txBox="1"/>
          <p:nvPr/>
        </p:nvSpPr>
        <p:spPr>
          <a:xfrm>
            <a:off x="5357813" y="2139553"/>
            <a:ext cx="285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66666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0V</a:t>
            </a:r>
            <a:endParaRPr sz="1100"/>
          </a:p>
        </p:txBody>
      </p:sp>
      <p:sp>
        <p:nvSpPr>
          <p:cNvPr id="163" name="Google Shape;163;p27"/>
          <p:cNvSpPr/>
          <p:nvPr/>
        </p:nvSpPr>
        <p:spPr>
          <a:xfrm>
            <a:off x="5786438" y="2200275"/>
            <a:ext cx="428700" cy="28500"/>
          </a:xfrm>
          <a:prstGeom prst="roundRect">
            <a:avLst>
              <a:gd fmla="val 16667" name="adj"/>
            </a:avLst>
          </a:prstGeom>
          <a:solidFill>
            <a:srgbClr val="33333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27"/>
          <p:cNvSpPr/>
          <p:nvPr/>
        </p:nvSpPr>
        <p:spPr>
          <a:xfrm>
            <a:off x="6350794" y="1916439"/>
            <a:ext cx="509100" cy="310500"/>
          </a:xfrm>
          <a:prstGeom prst="roundRect">
            <a:avLst>
              <a:gd fmla="val 16667" name="adj"/>
            </a:avLst>
          </a:prstGeom>
          <a:solidFill>
            <a:srgbClr val="00FF9D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27"/>
          <p:cNvSpPr/>
          <p:nvPr/>
        </p:nvSpPr>
        <p:spPr>
          <a:xfrm>
            <a:off x="7072313" y="2200275"/>
            <a:ext cx="428700" cy="28500"/>
          </a:xfrm>
          <a:prstGeom prst="roundRect">
            <a:avLst>
              <a:gd fmla="val 16667" name="adj"/>
            </a:avLst>
          </a:prstGeom>
          <a:solidFill>
            <a:srgbClr val="33333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27"/>
          <p:cNvSpPr txBox="1"/>
          <p:nvPr/>
        </p:nvSpPr>
        <p:spPr>
          <a:xfrm>
            <a:off x="8286750" y="2139553"/>
            <a:ext cx="717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66666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</a:t>
            </a:r>
            <a:endParaRPr sz="1100"/>
          </a:p>
        </p:txBody>
      </p:sp>
      <p:sp>
        <p:nvSpPr>
          <p:cNvPr id="167" name="Google Shape;167;p27"/>
          <p:cNvSpPr txBox="1"/>
          <p:nvPr/>
        </p:nvSpPr>
        <p:spPr>
          <a:xfrm>
            <a:off x="5357813" y="2853928"/>
            <a:ext cx="285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00FF9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5V</a:t>
            </a:r>
            <a:endParaRPr sz="1100"/>
          </a:p>
        </p:txBody>
      </p:sp>
      <p:sp>
        <p:nvSpPr>
          <p:cNvPr id="168" name="Google Shape;168;p27"/>
          <p:cNvSpPr/>
          <p:nvPr/>
        </p:nvSpPr>
        <p:spPr>
          <a:xfrm>
            <a:off x="5786438" y="2914650"/>
            <a:ext cx="428700" cy="28500"/>
          </a:xfrm>
          <a:prstGeom prst="roundRect">
            <a:avLst>
              <a:gd fmla="val 16667" name="adj"/>
            </a:avLst>
          </a:prstGeom>
          <a:solidFill>
            <a:srgbClr val="00FF9D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27"/>
          <p:cNvSpPr/>
          <p:nvPr/>
        </p:nvSpPr>
        <p:spPr>
          <a:xfrm>
            <a:off x="6357938" y="2914650"/>
            <a:ext cx="571500" cy="28500"/>
          </a:xfrm>
          <a:prstGeom prst="roundRect">
            <a:avLst>
              <a:gd fmla="val 16667" name="adj"/>
            </a:avLst>
          </a:prstGeom>
          <a:solidFill>
            <a:srgbClr val="00FF9D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27"/>
          <p:cNvSpPr/>
          <p:nvPr/>
        </p:nvSpPr>
        <p:spPr>
          <a:xfrm>
            <a:off x="7072313" y="2914650"/>
            <a:ext cx="428700" cy="28500"/>
          </a:xfrm>
          <a:prstGeom prst="roundRect">
            <a:avLst>
              <a:gd fmla="val 16667" name="adj"/>
            </a:avLst>
          </a:prstGeom>
          <a:solidFill>
            <a:srgbClr val="00FF9D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27"/>
          <p:cNvSpPr/>
          <p:nvPr/>
        </p:nvSpPr>
        <p:spPr>
          <a:xfrm>
            <a:off x="7643813" y="2714625"/>
            <a:ext cx="428700" cy="428700"/>
          </a:xfrm>
          <a:prstGeom prst="roundRect">
            <a:avLst>
              <a:gd fmla="val 16667" name="adj"/>
            </a:avLst>
          </a:prstGeom>
          <a:solidFill>
            <a:srgbClr val="00FF9D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27"/>
          <p:cNvSpPr txBox="1"/>
          <p:nvPr/>
        </p:nvSpPr>
        <p:spPr>
          <a:xfrm>
            <a:off x="8286750" y="2853928"/>
            <a:ext cx="717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00FF9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</a:t>
            </a:r>
            <a:endParaRPr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7" name="Google Shape;177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8" name="Google Shape;178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5769" y="1967545"/>
            <a:ext cx="2107406" cy="22931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9" name="Google Shape;179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757488" y="1967545"/>
            <a:ext cx="2107406" cy="22931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0" name="Google Shape;180;p2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079206" y="1967545"/>
            <a:ext cx="3629025" cy="2293144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28"/>
          <p:cNvSpPr txBox="1"/>
          <p:nvPr/>
        </p:nvSpPr>
        <p:spPr>
          <a:xfrm>
            <a:off x="728663" y="2260439"/>
            <a:ext cx="1521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300" u="none" cap="none" strike="noStrike">
                <a:solidFill>
                  <a:srgbClr val="00FF9D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endParaRPr sz="1100"/>
          </a:p>
        </p:txBody>
      </p:sp>
      <p:sp>
        <p:nvSpPr>
          <p:cNvPr id="182" name="Google Shape;182;p28"/>
          <p:cNvSpPr txBox="1"/>
          <p:nvPr/>
        </p:nvSpPr>
        <p:spPr>
          <a:xfrm>
            <a:off x="728663" y="2753357"/>
            <a:ext cx="15978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6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1 Bit</a:t>
            </a:r>
            <a:endParaRPr sz="1100"/>
          </a:p>
        </p:txBody>
      </p:sp>
      <p:sp>
        <p:nvSpPr>
          <p:cNvPr id="183" name="Google Shape;183;p28"/>
          <p:cNvSpPr txBox="1"/>
          <p:nvPr/>
        </p:nvSpPr>
        <p:spPr>
          <a:xfrm>
            <a:off x="728663" y="3139120"/>
            <a:ext cx="1521600" cy="3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A3A3A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 single switch.</a:t>
            </a:r>
            <a:br>
              <a:rPr b="0" i="0" lang="en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" sz="1100" u="none" cap="none" strike="noStrike">
                <a:solidFill>
                  <a:srgbClr val="A3A3A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Values: 0 or 1.</a:t>
            </a:r>
            <a:endParaRPr sz="1100"/>
          </a:p>
        </p:txBody>
      </p:sp>
      <p:sp>
        <p:nvSpPr>
          <p:cNvPr id="184" name="Google Shape;184;p28"/>
          <p:cNvSpPr txBox="1"/>
          <p:nvPr/>
        </p:nvSpPr>
        <p:spPr>
          <a:xfrm>
            <a:off x="3050381" y="2260439"/>
            <a:ext cx="1521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300" u="none" cap="none" strike="noStrike">
                <a:solidFill>
                  <a:srgbClr val="00FF9D"/>
                </a:solidFill>
                <a:latin typeface="Inter"/>
                <a:ea typeface="Inter"/>
                <a:cs typeface="Inter"/>
                <a:sym typeface="Inter"/>
              </a:rPr>
              <a:t>8</a:t>
            </a:r>
            <a:endParaRPr sz="1100"/>
          </a:p>
        </p:txBody>
      </p:sp>
      <p:sp>
        <p:nvSpPr>
          <p:cNvPr id="185" name="Google Shape;185;p28"/>
          <p:cNvSpPr txBox="1"/>
          <p:nvPr/>
        </p:nvSpPr>
        <p:spPr>
          <a:xfrm>
            <a:off x="3050381" y="2753357"/>
            <a:ext cx="15978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6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1 Byte</a:t>
            </a:r>
            <a:endParaRPr sz="1100"/>
          </a:p>
        </p:txBody>
      </p:sp>
      <p:sp>
        <p:nvSpPr>
          <p:cNvPr id="186" name="Google Shape;186;p28"/>
          <p:cNvSpPr txBox="1"/>
          <p:nvPr/>
        </p:nvSpPr>
        <p:spPr>
          <a:xfrm>
            <a:off x="3050375" y="3139125"/>
            <a:ext cx="1737300" cy="3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A3A3A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8 switches in a row.</a:t>
            </a:r>
            <a:br>
              <a:rPr b="0" i="0" lang="en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" sz="1100" u="none" cap="none" strike="noStrike">
                <a:solidFill>
                  <a:srgbClr val="A3A3A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Values: 0 to 255.</a:t>
            </a:r>
            <a:endParaRPr sz="1100"/>
          </a:p>
        </p:txBody>
      </p:sp>
      <p:sp>
        <p:nvSpPr>
          <p:cNvPr id="187" name="Google Shape;187;p28"/>
          <p:cNvSpPr txBox="1"/>
          <p:nvPr/>
        </p:nvSpPr>
        <p:spPr>
          <a:xfrm>
            <a:off x="5372100" y="2753357"/>
            <a:ext cx="31956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6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Binary Math</a:t>
            </a:r>
            <a:endParaRPr sz="1100"/>
          </a:p>
        </p:txBody>
      </p:sp>
      <p:sp>
        <p:nvSpPr>
          <p:cNvPr id="188" name="Google Shape;188;p28"/>
          <p:cNvSpPr txBox="1"/>
          <p:nvPr/>
        </p:nvSpPr>
        <p:spPr>
          <a:xfrm>
            <a:off x="5372100" y="3103401"/>
            <a:ext cx="3043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66666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128 64  32  16  08  04  02  01</a:t>
            </a:r>
            <a:br>
              <a:rPr b="0" i="0" lang="en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" sz="9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0   1   0   0   0   0   0   1</a:t>
            </a:r>
            <a:endParaRPr sz="1100"/>
          </a:p>
        </p:txBody>
      </p:sp>
      <p:sp>
        <p:nvSpPr>
          <p:cNvPr id="189" name="Google Shape;189;p28"/>
          <p:cNvSpPr txBox="1"/>
          <p:nvPr/>
        </p:nvSpPr>
        <p:spPr>
          <a:xfrm>
            <a:off x="5372100" y="3474876"/>
            <a:ext cx="3043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FF9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= 65</a:t>
            </a:r>
            <a:endParaRPr sz="1100"/>
          </a:p>
        </p:txBody>
      </p:sp>
      <p:pic>
        <p:nvPicPr>
          <p:cNvPr descr="image.png" id="190" name="Google Shape;190;p2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372100" y="2289014"/>
            <a:ext cx="214313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28"/>
          <p:cNvSpPr txBox="1"/>
          <p:nvPr/>
        </p:nvSpPr>
        <p:spPr>
          <a:xfrm>
            <a:off x="435769" y="684795"/>
            <a:ext cx="8686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400" u="none" cap="none" strike="noStrike">
                <a:solidFill>
                  <a:srgbClr val="00FF9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BINARY: THE LANGUAGE OF ON/OFF</a:t>
            </a:r>
            <a:endParaRPr sz="1100"/>
          </a:p>
        </p:txBody>
      </p:sp>
      <p:sp>
        <p:nvSpPr>
          <p:cNvPr id="192" name="Google Shape;192;p28"/>
          <p:cNvSpPr/>
          <p:nvPr/>
        </p:nvSpPr>
        <p:spPr>
          <a:xfrm>
            <a:off x="435769" y="1227720"/>
            <a:ext cx="8272500" cy="72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7" name="Google Shape;197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8" name="Google Shape;198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86313" y="1685366"/>
            <a:ext cx="3921919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9" name="Google Shape;199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5769" y="2999816"/>
            <a:ext cx="3921919" cy="600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0" name="Google Shape;200;p2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184242" y="2142566"/>
            <a:ext cx="994320" cy="600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1" name="Google Shape;201;p2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250000" y="2142566"/>
            <a:ext cx="994432" cy="600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2" name="Google Shape;202;p2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315869" y="2142566"/>
            <a:ext cx="994432" cy="600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3" name="Google Shape;203;p2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184242" y="2814079"/>
            <a:ext cx="994320" cy="600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4" name="Google Shape;204;p2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250000" y="2814079"/>
            <a:ext cx="994432" cy="600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5" name="Google Shape;205;p2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315869" y="2814079"/>
            <a:ext cx="994432" cy="600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6" name="Google Shape;206;p2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184242" y="3485591"/>
            <a:ext cx="994320" cy="600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7" name="Google Shape;207;p2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250000" y="3485591"/>
            <a:ext cx="994432" cy="600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8" name="Google Shape;208;p2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315869" y="3485591"/>
            <a:ext cx="994432" cy="600075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9"/>
          <p:cNvSpPr txBox="1"/>
          <p:nvPr/>
        </p:nvSpPr>
        <p:spPr>
          <a:xfrm>
            <a:off x="435769" y="2628341"/>
            <a:ext cx="39219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A3A3A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How do we store text? We agree on a map.</a:t>
            </a:r>
            <a:endParaRPr sz="1100"/>
          </a:p>
        </p:txBody>
      </p:sp>
      <p:sp>
        <p:nvSpPr>
          <p:cNvPr id="210" name="Google Shape;210;p29"/>
          <p:cNvSpPr txBox="1"/>
          <p:nvPr/>
        </p:nvSpPr>
        <p:spPr>
          <a:xfrm>
            <a:off x="585788" y="3149835"/>
            <a:ext cx="285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FFC66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char</a:t>
            </a:r>
            <a:endParaRPr sz="1100"/>
          </a:p>
        </p:txBody>
      </p:sp>
      <p:sp>
        <p:nvSpPr>
          <p:cNvPr id="211" name="Google Shape;211;p29"/>
          <p:cNvSpPr txBox="1"/>
          <p:nvPr/>
        </p:nvSpPr>
        <p:spPr>
          <a:xfrm>
            <a:off x="1228725" y="3149835"/>
            <a:ext cx="1428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6897B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65</a:t>
            </a:r>
            <a:endParaRPr sz="1100"/>
          </a:p>
        </p:txBody>
      </p:sp>
      <p:sp>
        <p:nvSpPr>
          <p:cNvPr id="212" name="Google Shape;212;p29"/>
          <p:cNvSpPr txBox="1"/>
          <p:nvPr/>
        </p:nvSpPr>
        <p:spPr>
          <a:xfrm>
            <a:off x="585788" y="3299854"/>
            <a:ext cx="2214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900" u="none" cap="none" strike="noStrike">
                <a:solidFill>
                  <a:srgbClr val="55555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This number is literally 'A'</a:t>
            </a:r>
            <a:endParaRPr sz="1100"/>
          </a:p>
        </p:txBody>
      </p:sp>
      <p:sp>
        <p:nvSpPr>
          <p:cNvPr id="213" name="Google Shape;213;p29"/>
          <p:cNvSpPr txBox="1"/>
          <p:nvPr/>
        </p:nvSpPr>
        <p:spPr>
          <a:xfrm>
            <a:off x="5298542" y="2256866"/>
            <a:ext cx="7656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66666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DEC</a:t>
            </a:r>
            <a:endParaRPr sz="1100"/>
          </a:p>
        </p:txBody>
      </p:sp>
      <p:sp>
        <p:nvSpPr>
          <p:cNvPr id="214" name="Google Shape;214;p29"/>
          <p:cNvSpPr txBox="1"/>
          <p:nvPr/>
        </p:nvSpPr>
        <p:spPr>
          <a:xfrm>
            <a:off x="5538456" y="2412925"/>
            <a:ext cx="285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65</a:t>
            </a:r>
            <a:endParaRPr sz="1100"/>
          </a:p>
        </p:txBody>
      </p:sp>
      <p:sp>
        <p:nvSpPr>
          <p:cNvPr id="215" name="Google Shape;215;p29"/>
          <p:cNvSpPr txBox="1"/>
          <p:nvPr/>
        </p:nvSpPr>
        <p:spPr>
          <a:xfrm>
            <a:off x="6364300" y="2256866"/>
            <a:ext cx="7659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66666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BIN</a:t>
            </a:r>
            <a:endParaRPr sz="1100"/>
          </a:p>
        </p:txBody>
      </p:sp>
      <p:sp>
        <p:nvSpPr>
          <p:cNvPr id="216" name="Google Shape;216;p29"/>
          <p:cNvSpPr txBox="1"/>
          <p:nvPr/>
        </p:nvSpPr>
        <p:spPr>
          <a:xfrm>
            <a:off x="7430169" y="2256866"/>
            <a:ext cx="7659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66666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CHAR</a:t>
            </a:r>
            <a:endParaRPr sz="1100"/>
          </a:p>
        </p:txBody>
      </p:sp>
      <p:sp>
        <p:nvSpPr>
          <p:cNvPr id="217" name="Google Shape;217;p29"/>
          <p:cNvSpPr txBox="1"/>
          <p:nvPr/>
        </p:nvSpPr>
        <p:spPr>
          <a:xfrm>
            <a:off x="7763024" y="2406885"/>
            <a:ext cx="100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FF9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</a:t>
            </a:r>
            <a:endParaRPr sz="1100"/>
          </a:p>
        </p:txBody>
      </p:sp>
      <p:sp>
        <p:nvSpPr>
          <p:cNvPr id="218" name="Google Shape;218;p29"/>
          <p:cNvSpPr txBox="1"/>
          <p:nvPr/>
        </p:nvSpPr>
        <p:spPr>
          <a:xfrm>
            <a:off x="5298542" y="2928379"/>
            <a:ext cx="7656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66666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DEC</a:t>
            </a:r>
            <a:endParaRPr sz="1100"/>
          </a:p>
        </p:txBody>
      </p:sp>
      <p:sp>
        <p:nvSpPr>
          <p:cNvPr id="219" name="Google Shape;219;p29"/>
          <p:cNvSpPr txBox="1"/>
          <p:nvPr/>
        </p:nvSpPr>
        <p:spPr>
          <a:xfrm>
            <a:off x="5538457" y="3081413"/>
            <a:ext cx="285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66</a:t>
            </a:r>
            <a:endParaRPr sz="1100"/>
          </a:p>
        </p:txBody>
      </p:sp>
      <p:sp>
        <p:nvSpPr>
          <p:cNvPr id="220" name="Google Shape;220;p29"/>
          <p:cNvSpPr txBox="1"/>
          <p:nvPr/>
        </p:nvSpPr>
        <p:spPr>
          <a:xfrm>
            <a:off x="6364300" y="2928379"/>
            <a:ext cx="7659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66666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BIN</a:t>
            </a:r>
            <a:endParaRPr sz="1100"/>
          </a:p>
        </p:txBody>
      </p:sp>
      <p:sp>
        <p:nvSpPr>
          <p:cNvPr id="221" name="Google Shape;221;p29"/>
          <p:cNvSpPr txBox="1"/>
          <p:nvPr/>
        </p:nvSpPr>
        <p:spPr>
          <a:xfrm>
            <a:off x="7430169" y="2928379"/>
            <a:ext cx="7659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66666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CHAR</a:t>
            </a:r>
            <a:endParaRPr sz="1100"/>
          </a:p>
        </p:txBody>
      </p:sp>
      <p:sp>
        <p:nvSpPr>
          <p:cNvPr id="222" name="Google Shape;222;p29"/>
          <p:cNvSpPr txBox="1"/>
          <p:nvPr/>
        </p:nvSpPr>
        <p:spPr>
          <a:xfrm>
            <a:off x="7763024" y="3078398"/>
            <a:ext cx="100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FF9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</a:t>
            </a:r>
            <a:endParaRPr sz="1100"/>
          </a:p>
        </p:txBody>
      </p:sp>
      <p:sp>
        <p:nvSpPr>
          <p:cNvPr id="223" name="Google Shape;223;p29"/>
          <p:cNvSpPr txBox="1"/>
          <p:nvPr/>
        </p:nvSpPr>
        <p:spPr>
          <a:xfrm>
            <a:off x="5298542" y="3599891"/>
            <a:ext cx="7656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66666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DEC</a:t>
            </a:r>
            <a:endParaRPr sz="1100"/>
          </a:p>
        </p:txBody>
      </p:sp>
      <p:sp>
        <p:nvSpPr>
          <p:cNvPr id="224" name="Google Shape;224;p29"/>
          <p:cNvSpPr txBox="1"/>
          <p:nvPr/>
        </p:nvSpPr>
        <p:spPr>
          <a:xfrm>
            <a:off x="5538405" y="3749925"/>
            <a:ext cx="285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33</a:t>
            </a:r>
            <a:endParaRPr sz="1100"/>
          </a:p>
        </p:txBody>
      </p:sp>
      <p:sp>
        <p:nvSpPr>
          <p:cNvPr id="225" name="Google Shape;225;p29"/>
          <p:cNvSpPr txBox="1"/>
          <p:nvPr/>
        </p:nvSpPr>
        <p:spPr>
          <a:xfrm>
            <a:off x="6364300" y="3599891"/>
            <a:ext cx="7659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66666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BIN</a:t>
            </a:r>
            <a:endParaRPr sz="1100"/>
          </a:p>
        </p:txBody>
      </p:sp>
      <p:sp>
        <p:nvSpPr>
          <p:cNvPr id="226" name="Google Shape;226;p29"/>
          <p:cNvSpPr txBox="1"/>
          <p:nvPr/>
        </p:nvSpPr>
        <p:spPr>
          <a:xfrm>
            <a:off x="7430169" y="3599891"/>
            <a:ext cx="7659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66666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CHAR</a:t>
            </a:r>
            <a:endParaRPr sz="1100"/>
          </a:p>
        </p:txBody>
      </p:sp>
      <p:sp>
        <p:nvSpPr>
          <p:cNvPr id="227" name="Google Shape;227;p29"/>
          <p:cNvSpPr txBox="1"/>
          <p:nvPr/>
        </p:nvSpPr>
        <p:spPr>
          <a:xfrm>
            <a:off x="7763024" y="3749910"/>
            <a:ext cx="100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FF9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!</a:t>
            </a:r>
            <a:endParaRPr sz="1100"/>
          </a:p>
        </p:txBody>
      </p:sp>
      <p:sp>
        <p:nvSpPr>
          <p:cNvPr id="228" name="Google Shape;228;p29"/>
          <p:cNvSpPr txBox="1"/>
          <p:nvPr/>
        </p:nvSpPr>
        <p:spPr>
          <a:xfrm>
            <a:off x="435769" y="684795"/>
            <a:ext cx="8686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400" u="none" cap="none" strike="noStrike">
                <a:solidFill>
                  <a:srgbClr val="00FF9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ASCII: THE AGREEMENT</a:t>
            </a:r>
            <a:endParaRPr sz="1100"/>
          </a:p>
        </p:txBody>
      </p:sp>
      <p:sp>
        <p:nvSpPr>
          <p:cNvPr id="229" name="Google Shape;229;p29"/>
          <p:cNvSpPr/>
          <p:nvPr/>
        </p:nvSpPr>
        <p:spPr>
          <a:xfrm>
            <a:off x="435769" y="1227720"/>
            <a:ext cx="8272500" cy="72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4" name="Google Shape;234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5" name="Google Shape;235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5769" y="1685366"/>
            <a:ext cx="3921919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6" name="Google Shape;236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532334" y="2535472"/>
            <a:ext cx="1728788" cy="1157287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30"/>
          <p:cNvSpPr txBox="1"/>
          <p:nvPr/>
        </p:nvSpPr>
        <p:spPr>
          <a:xfrm>
            <a:off x="1432322" y="4099954"/>
            <a:ext cx="19290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66666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pixel[0] = {255, 255, 255};</a:t>
            </a:r>
            <a:endParaRPr sz="1100"/>
          </a:p>
        </p:txBody>
      </p:sp>
      <p:sp>
        <p:nvSpPr>
          <p:cNvPr id="238" name="Google Shape;238;p30"/>
          <p:cNvSpPr txBox="1"/>
          <p:nvPr/>
        </p:nvSpPr>
        <p:spPr>
          <a:xfrm>
            <a:off x="4786313" y="2221148"/>
            <a:ext cx="4118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6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3 Bytes Per Pixel</a:t>
            </a:r>
            <a:endParaRPr sz="1100"/>
          </a:p>
        </p:txBody>
      </p:sp>
      <p:sp>
        <p:nvSpPr>
          <p:cNvPr id="239" name="Google Shape;239;p30"/>
          <p:cNvSpPr txBox="1"/>
          <p:nvPr/>
        </p:nvSpPr>
        <p:spPr>
          <a:xfrm>
            <a:off x="4786313" y="2606910"/>
            <a:ext cx="3921900" cy="4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A3A3A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Every dot on your screen is just three numbers representing intensity.</a:t>
            </a:r>
            <a:endParaRPr sz="1100"/>
          </a:p>
        </p:txBody>
      </p:sp>
      <p:sp>
        <p:nvSpPr>
          <p:cNvPr id="240" name="Google Shape;240;p30"/>
          <p:cNvSpPr/>
          <p:nvPr/>
        </p:nvSpPr>
        <p:spPr>
          <a:xfrm>
            <a:off x="1682353" y="2685491"/>
            <a:ext cx="428700" cy="857400"/>
          </a:xfrm>
          <a:prstGeom prst="roundRect">
            <a:avLst>
              <a:gd fmla="val 16667" name="adj"/>
            </a:avLst>
          </a:prstGeom>
          <a:solidFill>
            <a:srgbClr val="FF005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30"/>
          <p:cNvSpPr/>
          <p:nvPr/>
        </p:nvSpPr>
        <p:spPr>
          <a:xfrm>
            <a:off x="2182415" y="2685491"/>
            <a:ext cx="428700" cy="857400"/>
          </a:xfrm>
          <a:prstGeom prst="roundRect">
            <a:avLst>
              <a:gd fmla="val 16667" name="adj"/>
            </a:avLst>
          </a:prstGeom>
          <a:solidFill>
            <a:srgbClr val="00FF9D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30"/>
          <p:cNvSpPr/>
          <p:nvPr/>
        </p:nvSpPr>
        <p:spPr>
          <a:xfrm>
            <a:off x="2682478" y="2685491"/>
            <a:ext cx="428700" cy="857400"/>
          </a:xfrm>
          <a:prstGeom prst="roundRect">
            <a:avLst>
              <a:gd fmla="val 16667" name="adj"/>
            </a:avLst>
          </a:prstGeom>
          <a:solidFill>
            <a:srgbClr val="0055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30"/>
          <p:cNvSpPr txBox="1"/>
          <p:nvPr/>
        </p:nvSpPr>
        <p:spPr>
          <a:xfrm>
            <a:off x="4986338" y="3206985"/>
            <a:ext cx="858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FF005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•</a:t>
            </a:r>
            <a:endParaRPr sz="1100"/>
          </a:p>
        </p:txBody>
      </p:sp>
      <p:sp>
        <p:nvSpPr>
          <p:cNvPr id="244" name="Google Shape;244;p30"/>
          <p:cNvSpPr txBox="1"/>
          <p:nvPr/>
        </p:nvSpPr>
        <p:spPr>
          <a:xfrm>
            <a:off x="5072063" y="3206985"/>
            <a:ext cx="36363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572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FF005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Red (0-255)</a:t>
            </a:r>
            <a:endParaRPr sz="1100"/>
          </a:p>
        </p:txBody>
      </p:sp>
      <p:sp>
        <p:nvSpPr>
          <p:cNvPr id="245" name="Google Shape;245;p30"/>
          <p:cNvSpPr txBox="1"/>
          <p:nvPr/>
        </p:nvSpPr>
        <p:spPr>
          <a:xfrm>
            <a:off x="4986338" y="3435585"/>
            <a:ext cx="858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00FF9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•</a:t>
            </a:r>
            <a:endParaRPr sz="1100"/>
          </a:p>
        </p:txBody>
      </p:sp>
      <p:sp>
        <p:nvSpPr>
          <p:cNvPr id="246" name="Google Shape;246;p30"/>
          <p:cNvSpPr txBox="1"/>
          <p:nvPr/>
        </p:nvSpPr>
        <p:spPr>
          <a:xfrm>
            <a:off x="5072063" y="3435585"/>
            <a:ext cx="36363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572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00FF9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Green (0-255)</a:t>
            </a:r>
            <a:endParaRPr sz="1100"/>
          </a:p>
        </p:txBody>
      </p:sp>
      <p:sp>
        <p:nvSpPr>
          <p:cNvPr id="247" name="Google Shape;247;p30"/>
          <p:cNvSpPr txBox="1"/>
          <p:nvPr/>
        </p:nvSpPr>
        <p:spPr>
          <a:xfrm>
            <a:off x="4986338" y="3664185"/>
            <a:ext cx="858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0055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•</a:t>
            </a:r>
            <a:endParaRPr sz="1100"/>
          </a:p>
        </p:txBody>
      </p:sp>
      <p:sp>
        <p:nvSpPr>
          <p:cNvPr id="248" name="Google Shape;248;p30"/>
          <p:cNvSpPr txBox="1"/>
          <p:nvPr/>
        </p:nvSpPr>
        <p:spPr>
          <a:xfrm>
            <a:off x="5072063" y="3664185"/>
            <a:ext cx="36363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572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0055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Blue (0-255)</a:t>
            </a:r>
            <a:endParaRPr sz="1100"/>
          </a:p>
        </p:txBody>
      </p:sp>
      <p:sp>
        <p:nvSpPr>
          <p:cNvPr id="249" name="Google Shape;249;p30"/>
          <p:cNvSpPr txBox="1"/>
          <p:nvPr/>
        </p:nvSpPr>
        <p:spPr>
          <a:xfrm>
            <a:off x="435769" y="684795"/>
            <a:ext cx="8686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400" u="none" cap="none" strike="noStrike">
                <a:solidFill>
                  <a:srgbClr val="00FF9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RGB: NUMBERS TO LIGHT</a:t>
            </a:r>
            <a:endParaRPr sz="1100"/>
          </a:p>
        </p:txBody>
      </p:sp>
      <p:sp>
        <p:nvSpPr>
          <p:cNvPr id="250" name="Google Shape;250;p30"/>
          <p:cNvSpPr/>
          <p:nvPr/>
        </p:nvSpPr>
        <p:spPr>
          <a:xfrm>
            <a:off x="435769" y="1227720"/>
            <a:ext cx="8272500" cy="72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5" name="Google Shape;255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6" name="Google Shape;256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78906" y="1385218"/>
            <a:ext cx="3786188" cy="2373063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31"/>
          <p:cNvSpPr txBox="1"/>
          <p:nvPr/>
        </p:nvSpPr>
        <p:spPr>
          <a:xfrm>
            <a:off x="3049310" y="2183867"/>
            <a:ext cx="3045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34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Intro to C</a:t>
            </a:r>
            <a:endParaRPr sz="1100"/>
          </a:p>
        </p:txBody>
      </p:sp>
      <p:sp>
        <p:nvSpPr>
          <p:cNvPr id="258" name="Google Shape;258;p31"/>
          <p:cNvSpPr txBox="1"/>
          <p:nvPr/>
        </p:nvSpPr>
        <p:spPr>
          <a:xfrm>
            <a:off x="3121819" y="2869667"/>
            <a:ext cx="2900400" cy="5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FF9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 Level 1: The Metal Language</a:t>
            </a:r>
            <a:endParaRPr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3" name="Google Shape;263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4" name="Google Shape;264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86313" y="2517613"/>
            <a:ext cx="3921919" cy="1050131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32"/>
          <p:cNvSpPr txBox="1"/>
          <p:nvPr/>
        </p:nvSpPr>
        <p:spPr>
          <a:xfrm>
            <a:off x="435769" y="2506898"/>
            <a:ext cx="4118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6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No More Training Wheels</a:t>
            </a:r>
            <a:endParaRPr sz="1100"/>
          </a:p>
        </p:txBody>
      </p:sp>
      <p:sp>
        <p:nvSpPr>
          <p:cNvPr id="266" name="Google Shape;266;p32"/>
          <p:cNvSpPr txBox="1"/>
          <p:nvPr/>
        </p:nvSpPr>
        <p:spPr>
          <a:xfrm>
            <a:off x="435769" y="2892660"/>
            <a:ext cx="3921900" cy="7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A3A3A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 demands manual control. You must import libraries, define return types, and compile code manually.</a:t>
            </a:r>
            <a:endParaRPr sz="1100"/>
          </a:p>
        </p:txBody>
      </p:sp>
      <p:sp>
        <p:nvSpPr>
          <p:cNvPr id="267" name="Google Shape;267;p32"/>
          <p:cNvSpPr txBox="1"/>
          <p:nvPr/>
        </p:nvSpPr>
        <p:spPr>
          <a:xfrm>
            <a:off x="4936331" y="2667632"/>
            <a:ext cx="5715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CC783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#include</a:t>
            </a:r>
            <a:endParaRPr sz="1100"/>
          </a:p>
        </p:txBody>
      </p:sp>
      <p:sp>
        <p:nvSpPr>
          <p:cNvPr id="268" name="Google Shape;268;p32"/>
          <p:cNvSpPr txBox="1"/>
          <p:nvPr/>
        </p:nvSpPr>
        <p:spPr>
          <a:xfrm>
            <a:off x="4936331" y="2967670"/>
            <a:ext cx="2145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FFC66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int</a:t>
            </a:r>
            <a:endParaRPr sz="1100"/>
          </a:p>
        </p:txBody>
      </p:sp>
      <p:sp>
        <p:nvSpPr>
          <p:cNvPr id="269" name="Google Shape;269;p32"/>
          <p:cNvSpPr txBox="1"/>
          <p:nvPr/>
        </p:nvSpPr>
        <p:spPr>
          <a:xfrm>
            <a:off x="5579269" y="2967670"/>
            <a:ext cx="285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FFC66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void</a:t>
            </a:r>
            <a:endParaRPr sz="1100"/>
          </a:p>
        </p:txBody>
      </p:sp>
      <p:sp>
        <p:nvSpPr>
          <p:cNvPr id="270" name="Google Shape;270;p32"/>
          <p:cNvSpPr txBox="1"/>
          <p:nvPr/>
        </p:nvSpPr>
        <p:spPr>
          <a:xfrm>
            <a:off x="5079206" y="3117689"/>
            <a:ext cx="4287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CC783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printf</a:t>
            </a:r>
            <a:endParaRPr sz="1100"/>
          </a:p>
        </p:txBody>
      </p:sp>
      <p:sp>
        <p:nvSpPr>
          <p:cNvPr id="271" name="Google Shape;271;p32"/>
          <p:cNvSpPr txBox="1"/>
          <p:nvPr/>
        </p:nvSpPr>
        <p:spPr>
          <a:xfrm>
            <a:off x="5579269" y="3117689"/>
            <a:ext cx="11430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6A87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"hello, world\n"</a:t>
            </a:r>
            <a:endParaRPr sz="1100"/>
          </a:p>
        </p:txBody>
      </p:sp>
      <p:sp>
        <p:nvSpPr>
          <p:cNvPr id="272" name="Google Shape;272;p32"/>
          <p:cNvSpPr txBox="1"/>
          <p:nvPr/>
        </p:nvSpPr>
        <p:spPr>
          <a:xfrm>
            <a:off x="435769" y="684795"/>
            <a:ext cx="8686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400" u="none" cap="none" strike="noStrike">
                <a:solidFill>
                  <a:srgbClr val="00FF9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ENTER C</a:t>
            </a:r>
            <a:endParaRPr sz="1100"/>
          </a:p>
        </p:txBody>
      </p:sp>
      <p:sp>
        <p:nvSpPr>
          <p:cNvPr id="273" name="Google Shape;273;p32"/>
          <p:cNvSpPr/>
          <p:nvPr/>
        </p:nvSpPr>
        <p:spPr>
          <a:xfrm>
            <a:off x="435769" y="1227720"/>
            <a:ext cx="8272500" cy="72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8" name="Google Shape;278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9" name="Google Shape;279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5775" y="4173651"/>
            <a:ext cx="8272450" cy="576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0" name="Google Shape;280;p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078831" y="2299841"/>
            <a:ext cx="1000125" cy="9286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1" name="Google Shape;281;p3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407569" y="2299841"/>
            <a:ext cx="1000125" cy="9286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2" name="Google Shape;282;p3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36306" y="2299841"/>
            <a:ext cx="1000125" cy="9286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3" name="Google Shape;283;p3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065044" y="2299841"/>
            <a:ext cx="1000125" cy="928688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33"/>
          <p:cNvSpPr txBox="1"/>
          <p:nvPr/>
        </p:nvSpPr>
        <p:spPr>
          <a:xfrm>
            <a:off x="2657700" y="4273975"/>
            <a:ext cx="38286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800" u="none" cap="none" strike="noStrike">
                <a:solidFill>
                  <a:srgbClr val="55555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The command that does it all</a:t>
            </a:r>
            <a:endParaRPr sz="1100"/>
          </a:p>
        </p:txBody>
      </p:sp>
      <p:sp>
        <p:nvSpPr>
          <p:cNvPr id="285" name="Google Shape;285;p33"/>
          <p:cNvSpPr txBox="1"/>
          <p:nvPr/>
        </p:nvSpPr>
        <p:spPr>
          <a:xfrm>
            <a:off x="3404850" y="4492683"/>
            <a:ext cx="23343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clang -o hello hello.c</a:t>
            </a:r>
            <a:endParaRPr sz="1100"/>
          </a:p>
        </p:txBody>
      </p:sp>
      <p:pic>
        <p:nvPicPr>
          <p:cNvPr descr="image.png" id="286" name="Google Shape;286;p3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2478881" y="2421284"/>
            <a:ext cx="200025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33"/>
          <p:cNvSpPr txBox="1"/>
          <p:nvPr/>
        </p:nvSpPr>
        <p:spPr>
          <a:xfrm>
            <a:off x="2143839" y="2692747"/>
            <a:ext cx="8700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00FF9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Preprocess</a:t>
            </a:r>
            <a:endParaRPr sz="1100"/>
          </a:p>
        </p:txBody>
      </p:sp>
      <p:sp>
        <p:nvSpPr>
          <p:cNvPr id="288" name="Google Shape;288;p33"/>
          <p:cNvSpPr txBox="1"/>
          <p:nvPr/>
        </p:nvSpPr>
        <p:spPr>
          <a:xfrm>
            <a:off x="2164556" y="3021359"/>
            <a:ext cx="8286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00" u="none" cap="none" strike="noStrike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rPr>
              <a:t>#include -&gt; Code</a:t>
            </a:r>
            <a:endParaRPr sz="1100"/>
          </a:p>
        </p:txBody>
      </p:sp>
      <p:pic>
        <p:nvPicPr>
          <p:cNvPr descr="image.png" id="289" name="Google Shape;289;p3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3186113" y="2703463"/>
            <a:ext cx="114300" cy="1285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0" name="Google Shape;290;p33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3782615" y="2421284"/>
            <a:ext cx="250031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33"/>
          <p:cNvSpPr txBox="1"/>
          <p:nvPr/>
        </p:nvSpPr>
        <p:spPr>
          <a:xfrm>
            <a:off x="3472577" y="2692747"/>
            <a:ext cx="8700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00FF9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Compile</a:t>
            </a:r>
            <a:endParaRPr sz="1100"/>
          </a:p>
        </p:txBody>
      </p:sp>
      <p:sp>
        <p:nvSpPr>
          <p:cNvPr id="292" name="Google Shape;292;p33"/>
          <p:cNvSpPr txBox="1"/>
          <p:nvPr/>
        </p:nvSpPr>
        <p:spPr>
          <a:xfrm>
            <a:off x="3493294" y="3021359"/>
            <a:ext cx="8286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00" u="none" cap="none" strike="noStrike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rPr>
              <a:t>C -&gt; Assembly</a:t>
            </a:r>
            <a:endParaRPr sz="1100"/>
          </a:p>
        </p:txBody>
      </p:sp>
      <p:pic>
        <p:nvPicPr>
          <p:cNvPr descr="image.png" id="293" name="Google Shape;293;p3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514850" y="2703463"/>
            <a:ext cx="114300" cy="1285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4" name="Google Shape;294;p33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5136356" y="2421284"/>
            <a:ext cx="200025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33"/>
          <p:cNvSpPr txBox="1"/>
          <p:nvPr/>
        </p:nvSpPr>
        <p:spPr>
          <a:xfrm>
            <a:off x="4801314" y="2692747"/>
            <a:ext cx="8700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00FF9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Assemble</a:t>
            </a:r>
            <a:endParaRPr sz="1100"/>
          </a:p>
        </p:txBody>
      </p:sp>
      <p:sp>
        <p:nvSpPr>
          <p:cNvPr id="296" name="Google Shape;296;p33"/>
          <p:cNvSpPr txBox="1"/>
          <p:nvPr/>
        </p:nvSpPr>
        <p:spPr>
          <a:xfrm>
            <a:off x="4822031" y="3021359"/>
            <a:ext cx="8286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00" u="none" cap="none" strike="noStrike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rPr>
              <a:t>Asm -&gt; Object .o</a:t>
            </a:r>
            <a:endParaRPr sz="1100"/>
          </a:p>
        </p:txBody>
      </p:sp>
      <p:pic>
        <p:nvPicPr>
          <p:cNvPr descr="image.png" id="297" name="Google Shape;297;p3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843588" y="2703463"/>
            <a:ext cx="114300" cy="1285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8" name="Google Shape;298;p33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6440090" y="2421284"/>
            <a:ext cx="250031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33"/>
          <p:cNvSpPr txBox="1"/>
          <p:nvPr/>
        </p:nvSpPr>
        <p:spPr>
          <a:xfrm>
            <a:off x="6130052" y="2692747"/>
            <a:ext cx="8700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00FF9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Link</a:t>
            </a:r>
            <a:endParaRPr sz="1100"/>
          </a:p>
        </p:txBody>
      </p:sp>
      <p:sp>
        <p:nvSpPr>
          <p:cNvPr id="300" name="Google Shape;300;p33"/>
          <p:cNvSpPr txBox="1"/>
          <p:nvPr/>
        </p:nvSpPr>
        <p:spPr>
          <a:xfrm>
            <a:off x="6150769" y="3021359"/>
            <a:ext cx="8286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00" u="none" cap="none" strike="noStrike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rPr>
              <a:t>.o + Libraries -&gt; Exe</a:t>
            </a:r>
            <a:endParaRPr sz="1100"/>
          </a:p>
        </p:txBody>
      </p:sp>
      <p:sp>
        <p:nvSpPr>
          <p:cNvPr id="301" name="Google Shape;301;p33"/>
          <p:cNvSpPr txBox="1"/>
          <p:nvPr/>
        </p:nvSpPr>
        <p:spPr>
          <a:xfrm>
            <a:off x="435769" y="499616"/>
            <a:ext cx="8686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400" u="none" cap="none" strike="noStrike">
                <a:solidFill>
                  <a:srgbClr val="00FF9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THE COMPILATION PROCESS</a:t>
            </a:r>
            <a:endParaRPr sz="1100"/>
          </a:p>
        </p:txBody>
      </p:sp>
      <p:sp>
        <p:nvSpPr>
          <p:cNvPr id="302" name="Google Shape;302;p33"/>
          <p:cNvSpPr/>
          <p:nvPr/>
        </p:nvSpPr>
        <p:spPr>
          <a:xfrm>
            <a:off x="435769" y="1042541"/>
            <a:ext cx="8272500" cy="72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07" name="Google Shape;307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8" name="Google Shape;308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86313" y="1685366"/>
            <a:ext cx="3921919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9" name="Google Shape;309;p3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93456" y="1985404"/>
            <a:ext cx="1882378" cy="685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0" name="Google Shape;310;p3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793456" y="2814079"/>
            <a:ext cx="1882378" cy="1428750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34"/>
          <p:cNvSpPr txBox="1"/>
          <p:nvPr/>
        </p:nvSpPr>
        <p:spPr>
          <a:xfrm>
            <a:off x="435769" y="2199716"/>
            <a:ext cx="4118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6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Text Replacement</a:t>
            </a:r>
            <a:endParaRPr sz="1100"/>
          </a:p>
        </p:txBody>
      </p:sp>
      <p:sp>
        <p:nvSpPr>
          <p:cNvPr id="312" name="Google Shape;312;p34"/>
          <p:cNvSpPr txBox="1"/>
          <p:nvPr/>
        </p:nvSpPr>
        <p:spPr>
          <a:xfrm>
            <a:off x="435769" y="2585479"/>
            <a:ext cx="3921900" cy="4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A3A3A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Lines starting with # are instructions for the preprocessor.</a:t>
            </a:r>
            <a:endParaRPr sz="1100"/>
          </a:p>
        </p:txBody>
      </p:sp>
      <p:sp>
        <p:nvSpPr>
          <p:cNvPr id="313" name="Google Shape;313;p34"/>
          <p:cNvSpPr txBox="1"/>
          <p:nvPr/>
        </p:nvSpPr>
        <p:spPr>
          <a:xfrm>
            <a:off x="435769" y="3192698"/>
            <a:ext cx="3921900" cy="7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A3A3A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#include  literally finds the file stdio.h and copy-pastes its entire contents into your file.</a:t>
            </a:r>
            <a:endParaRPr sz="1100"/>
          </a:p>
        </p:txBody>
      </p:sp>
      <p:pic>
        <p:nvPicPr>
          <p:cNvPr descr="image.png" id="314" name="Google Shape;314;p3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961584" y="2185429"/>
            <a:ext cx="1596628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34"/>
          <p:cNvSpPr txBox="1"/>
          <p:nvPr/>
        </p:nvSpPr>
        <p:spPr>
          <a:xfrm>
            <a:off x="435769" y="684795"/>
            <a:ext cx="8686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400" u="none" cap="none" strike="noStrike">
                <a:solidFill>
                  <a:srgbClr val="00FF9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STEP 1: PREPROCESSING</a:t>
            </a:r>
            <a:endParaRPr sz="1100"/>
          </a:p>
        </p:txBody>
      </p:sp>
      <p:sp>
        <p:nvSpPr>
          <p:cNvPr id="316" name="Google Shape;316;p34"/>
          <p:cNvSpPr/>
          <p:nvPr/>
        </p:nvSpPr>
        <p:spPr>
          <a:xfrm>
            <a:off x="435769" y="1227720"/>
            <a:ext cx="8272500" cy="72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21" name="Google Shape;321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2" name="Google Shape;322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5769" y="1685366"/>
            <a:ext cx="3921919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3" name="Google Shape;323;p3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96540" y="2163998"/>
            <a:ext cx="1428750" cy="19002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4" name="Google Shape;324;p3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468165" y="2163998"/>
            <a:ext cx="1428750" cy="19002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5" name="Google Shape;325;p3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53703" y="2092560"/>
            <a:ext cx="442913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6" name="Google Shape;326;p3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625328" y="2092560"/>
            <a:ext cx="442913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35"/>
          <p:cNvSpPr txBox="1"/>
          <p:nvPr/>
        </p:nvSpPr>
        <p:spPr>
          <a:xfrm>
            <a:off x="4786313" y="2203289"/>
            <a:ext cx="4118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6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The Promise vs. The Code</a:t>
            </a:r>
            <a:endParaRPr sz="1100"/>
          </a:p>
        </p:txBody>
      </p:sp>
      <p:sp>
        <p:nvSpPr>
          <p:cNvPr id="328" name="Google Shape;328;p35"/>
          <p:cNvSpPr txBox="1"/>
          <p:nvPr/>
        </p:nvSpPr>
        <p:spPr>
          <a:xfrm>
            <a:off x="4786313" y="2589051"/>
            <a:ext cx="3921900" cy="4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A3A3A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Header files are like a </a:t>
            </a:r>
            <a:r>
              <a:rPr b="1" i="0" lang="en" sz="1100" u="none" cap="none" strike="noStrike">
                <a:solidFill>
                  <a:srgbClr val="A3A3A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Menu</a:t>
            </a:r>
            <a:r>
              <a:rPr b="0" i="0" lang="en" sz="1100" u="none" cap="none" strike="noStrike">
                <a:solidFill>
                  <a:srgbClr val="A3A3A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 They tell the compiler </a:t>
            </a:r>
            <a:r>
              <a:rPr b="0" i="1" lang="en" sz="1100" u="none" cap="none" strike="noStrike">
                <a:solidFill>
                  <a:srgbClr val="A3A3A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what</a:t>
            </a:r>
            <a:r>
              <a:rPr b="0" i="0" lang="en" sz="1100" u="none" cap="none" strike="noStrike">
                <a:solidFill>
                  <a:srgbClr val="A3A3A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functions exist (prototypes).</a:t>
            </a:r>
            <a:endParaRPr sz="1100"/>
          </a:p>
        </p:txBody>
      </p:sp>
      <p:sp>
        <p:nvSpPr>
          <p:cNvPr id="329" name="Google Shape;329;p35"/>
          <p:cNvSpPr txBox="1"/>
          <p:nvPr/>
        </p:nvSpPr>
        <p:spPr>
          <a:xfrm>
            <a:off x="4786313" y="3189126"/>
            <a:ext cx="3921900" cy="7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A3A3A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The .c files (or libraries) are the </a:t>
            </a:r>
            <a:r>
              <a:rPr b="1" i="0" lang="en" sz="1100" u="none" cap="none" strike="noStrike">
                <a:solidFill>
                  <a:srgbClr val="A3A3A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Kitchen</a:t>
            </a:r>
            <a:r>
              <a:rPr b="0" i="0" lang="en" sz="1100" u="none" cap="none" strike="noStrike">
                <a:solidFill>
                  <a:srgbClr val="A3A3A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 They contain the actual implementation details.</a:t>
            </a:r>
            <a:endParaRPr sz="1100"/>
          </a:p>
        </p:txBody>
      </p:sp>
      <p:sp>
        <p:nvSpPr>
          <p:cNvPr id="330" name="Google Shape;330;p35"/>
          <p:cNvSpPr txBox="1"/>
          <p:nvPr/>
        </p:nvSpPr>
        <p:spPr>
          <a:xfrm>
            <a:off x="1053703" y="2321160"/>
            <a:ext cx="11145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FFC66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THE MENU</a:t>
            </a:r>
            <a:endParaRPr sz="1100"/>
          </a:p>
        </p:txBody>
      </p:sp>
      <p:sp>
        <p:nvSpPr>
          <p:cNvPr id="331" name="Google Shape;331;p35"/>
          <p:cNvSpPr/>
          <p:nvPr/>
        </p:nvSpPr>
        <p:spPr>
          <a:xfrm>
            <a:off x="1053703" y="2471179"/>
            <a:ext cx="1114500" cy="7200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35"/>
          <p:cNvSpPr txBox="1"/>
          <p:nvPr/>
        </p:nvSpPr>
        <p:spPr>
          <a:xfrm>
            <a:off x="1053703" y="2621198"/>
            <a:ext cx="1114500" cy="4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A3A3A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int add(int a, int b);</a:t>
            </a:r>
            <a:endParaRPr sz="1100"/>
          </a:p>
        </p:txBody>
      </p:sp>
      <p:sp>
        <p:nvSpPr>
          <p:cNvPr id="333" name="Google Shape;333;p35"/>
          <p:cNvSpPr txBox="1"/>
          <p:nvPr/>
        </p:nvSpPr>
        <p:spPr>
          <a:xfrm>
            <a:off x="1053703" y="3221273"/>
            <a:ext cx="1114500" cy="4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A3A3A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int sub(int a, int b);</a:t>
            </a:r>
            <a:endParaRPr sz="1100"/>
          </a:p>
        </p:txBody>
      </p:sp>
      <p:sp>
        <p:nvSpPr>
          <p:cNvPr id="334" name="Google Shape;334;p35"/>
          <p:cNvSpPr txBox="1"/>
          <p:nvPr/>
        </p:nvSpPr>
        <p:spPr>
          <a:xfrm>
            <a:off x="2625328" y="2321160"/>
            <a:ext cx="11145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00FF9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THE KITCHEN</a:t>
            </a:r>
            <a:endParaRPr sz="1100"/>
          </a:p>
        </p:txBody>
      </p:sp>
      <p:sp>
        <p:nvSpPr>
          <p:cNvPr id="335" name="Google Shape;335;p35"/>
          <p:cNvSpPr/>
          <p:nvPr/>
        </p:nvSpPr>
        <p:spPr>
          <a:xfrm>
            <a:off x="2625328" y="2471179"/>
            <a:ext cx="1114500" cy="7200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35"/>
          <p:cNvSpPr txBox="1"/>
          <p:nvPr/>
        </p:nvSpPr>
        <p:spPr>
          <a:xfrm>
            <a:off x="2625328" y="2621198"/>
            <a:ext cx="1114500" cy="10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A3A3A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int add(int a, int b) {</a:t>
            </a:r>
            <a:br>
              <a:rPr b="0" i="0" lang="en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" sz="1100" u="none" cap="none" strike="noStrike">
                <a:solidFill>
                  <a:srgbClr val="A3A3A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  return a + b;</a:t>
            </a:r>
            <a:br>
              <a:rPr b="0" i="0" lang="en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" sz="1100" u="none" cap="none" strike="noStrike">
                <a:solidFill>
                  <a:srgbClr val="A3A3A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}</a:t>
            </a:r>
            <a:endParaRPr sz="1100"/>
          </a:p>
        </p:txBody>
      </p:sp>
      <p:sp>
        <p:nvSpPr>
          <p:cNvPr id="337" name="Google Shape;337;p35"/>
          <p:cNvSpPr txBox="1"/>
          <p:nvPr/>
        </p:nvSpPr>
        <p:spPr>
          <a:xfrm>
            <a:off x="435769" y="684795"/>
            <a:ext cx="8686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400" u="none" cap="none" strike="noStrike">
                <a:solidFill>
                  <a:srgbClr val="00FF9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HEADER FILES (.H)</a:t>
            </a:r>
            <a:endParaRPr sz="1100"/>
          </a:p>
        </p:txBody>
      </p:sp>
      <p:sp>
        <p:nvSpPr>
          <p:cNvPr id="338" name="Google Shape;338;p35"/>
          <p:cNvSpPr/>
          <p:nvPr/>
        </p:nvSpPr>
        <p:spPr>
          <a:xfrm>
            <a:off x="435769" y="1227720"/>
            <a:ext cx="8272500" cy="72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43" name="Google Shape;343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4" name="Google Shape;344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5769" y="1685366"/>
            <a:ext cx="3921919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5" name="Google Shape;345;p3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2913" y="2102830"/>
            <a:ext cx="1882378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6" name="Google Shape;346;p3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42913" y="2817205"/>
            <a:ext cx="1882378" cy="1308199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p36"/>
          <p:cNvSpPr txBox="1"/>
          <p:nvPr/>
        </p:nvSpPr>
        <p:spPr>
          <a:xfrm>
            <a:off x="4786313" y="2203289"/>
            <a:ext cx="4118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6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Translation to Assembly</a:t>
            </a:r>
            <a:endParaRPr sz="1100"/>
          </a:p>
        </p:txBody>
      </p:sp>
      <p:sp>
        <p:nvSpPr>
          <p:cNvPr id="348" name="Google Shape;348;p36"/>
          <p:cNvSpPr txBox="1"/>
          <p:nvPr/>
        </p:nvSpPr>
        <p:spPr>
          <a:xfrm>
            <a:off x="4786313" y="2589051"/>
            <a:ext cx="3921900" cy="4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A3A3A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The compiler translates C code into </a:t>
            </a:r>
            <a:r>
              <a:rPr b="1" i="0" lang="en" sz="1100" u="none" cap="none" strike="noStrike">
                <a:solidFill>
                  <a:srgbClr val="A3A3A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Assembly Code</a:t>
            </a:r>
            <a:r>
              <a:rPr b="0" i="0" lang="en" sz="1100" u="none" cap="none" strike="noStrike">
                <a:solidFill>
                  <a:srgbClr val="A3A3A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</a:t>
            </a:r>
            <a:endParaRPr sz="1100"/>
          </a:p>
        </p:txBody>
      </p:sp>
      <p:sp>
        <p:nvSpPr>
          <p:cNvPr id="349" name="Google Shape;349;p36"/>
          <p:cNvSpPr txBox="1"/>
          <p:nvPr/>
        </p:nvSpPr>
        <p:spPr>
          <a:xfrm>
            <a:off x="4786313" y="3189126"/>
            <a:ext cx="3921900" cy="7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A3A3A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These are low-level CPU instructions (like mov, push, add) that represent the logic of your program, but still in text form.</a:t>
            </a:r>
            <a:endParaRPr sz="1100"/>
          </a:p>
        </p:txBody>
      </p:sp>
      <p:pic>
        <p:nvPicPr>
          <p:cNvPr descr="image.png" id="350" name="Google Shape;350;p3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611040" y="2245705"/>
            <a:ext cx="1596628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p36"/>
          <p:cNvSpPr txBox="1"/>
          <p:nvPr/>
        </p:nvSpPr>
        <p:spPr>
          <a:xfrm>
            <a:off x="557213" y="2931505"/>
            <a:ext cx="1653900" cy="7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FFC66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main:</a:t>
            </a:r>
            <a:br>
              <a:rPr b="0" i="0" lang="en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" sz="800" u="none" cap="none" strike="noStrike">
                <a:solidFill>
                  <a:srgbClr val="FFC66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  push rbp</a:t>
            </a:r>
            <a:br>
              <a:rPr b="0" i="0" lang="en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" sz="800" u="none" cap="none" strike="noStrike">
                <a:solidFill>
                  <a:srgbClr val="FFC66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  mov rbp, rsp</a:t>
            </a:r>
            <a:br>
              <a:rPr b="0" i="0" lang="en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" sz="800" u="none" cap="none" strike="noStrike">
                <a:solidFill>
                  <a:srgbClr val="FFC66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  mov eax, 0</a:t>
            </a:r>
            <a:br>
              <a:rPr b="0" i="0" lang="en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" sz="800" u="none" cap="none" strike="noStrike">
                <a:solidFill>
                  <a:srgbClr val="FFC66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  pop rbp</a:t>
            </a:r>
            <a:br>
              <a:rPr b="0" i="0" lang="en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" sz="800" u="none" cap="none" strike="noStrike">
                <a:solidFill>
                  <a:srgbClr val="FFC66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  ret</a:t>
            </a:r>
            <a:endParaRPr sz="1100"/>
          </a:p>
        </p:txBody>
      </p:sp>
      <p:sp>
        <p:nvSpPr>
          <p:cNvPr id="352" name="Google Shape;352;p36"/>
          <p:cNvSpPr txBox="1"/>
          <p:nvPr/>
        </p:nvSpPr>
        <p:spPr>
          <a:xfrm>
            <a:off x="435769" y="684795"/>
            <a:ext cx="8686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400" u="none" cap="none" strike="noStrike">
                <a:solidFill>
                  <a:srgbClr val="00FF9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STEP 2: COMPILING</a:t>
            </a:r>
            <a:endParaRPr sz="1100"/>
          </a:p>
        </p:txBody>
      </p:sp>
      <p:sp>
        <p:nvSpPr>
          <p:cNvPr id="353" name="Google Shape;353;p36"/>
          <p:cNvSpPr/>
          <p:nvPr/>
        </p:nvSpPr>
        <p:spPr>
          <a:xfrm>
            <a:off x="435769" y="1227720"/>
            <a:ext cx="8272500" cy="72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58" name="Google Shape;358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9" name="Google Shape;359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86313" y="1685366"/>
            <a:ext cx="3921919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0" name="Google Shape;360;p3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93456" y="2369827"/>
            <a:ext cx="1882378" cy="5884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1" name="Google Shape;361;p3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793456" y="3101168"/>
            <a:ext cx="1882378" cy="757238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37"/>
          <p:cNvSpPr txBox="1"/>
          <p:nvPr/>
        </p:nvSpPr>
        <p:spPr>
          <a:xfrm>
            <a:off x="435769" y="2321160"/>
            <a:ext cx="4118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6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Binary Conversion</a:t>
            </a:r>
            <a:endParaRPr sz="1100"/>
          </a:p>
        </p:txBody>
      </p:sp>
      <p:sp>
        <p:nvSpPr>
          <p:cNvPr id="363" name="Google Shape;363;p37"/>
          <p:cNvSpPr txBox="1"/>
          <p:nvPr/>
        </p:nvSpPr>
        <p:spPr>
          <a:xfrm>
            <a:off x="435769" y="2706923"/>
            <a:ext cx="3921900" cy="4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A3A3A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The assembler translates Assembly code into </a:t>
            </a:r>
            <a:r>
              <a:rPr b="1" i="0" lang="en" sz="1100" u="none" cap="none" strike="noStrike">
                <a:solidFill>
                  <a:srgbClr val="A3A3A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Machine Code</a:t>
            </a:r>
            <a:r>
              <a:rPr b="0" i="0" lang="en" sz="1100" u="none" cap="none" strike="noStrike">
                <a:solidFill>
                  <a:srgbClr val="A3A3A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(Object code).</a:t>
            </a:r>
            <a:endParaRPr sz="1100"/>
          </a:p>
        </p:txBody>
      </p:sp>
      <p:sp>
        <p:nvSpPr>
          <p:cNvPr id="364" name="Google Shape;364;p37"/>
          <p:cNvSpPr txBox="1"/>
          <p:nvPr/>
        </p:nvSpPr>
        <p:spPr>
          <a:xfrm>
            <a:off x="435769" y="3306998"/>
            <a:ext cx="3921900" cy="4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A3A3A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These are the actual 0s and 1s that the CPU executes. It is no longer readable by humans.</a:t>
            </a:r>
            <a:endParaRPr sz="1100"/>
          </a:p>
        </p:txBody>
      </p:sp>
      <p:pic>
        <p:nvPicPr>
          <p:cNvPr descr="image.png" id="365" name="Google Shape;365;p3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961584" y="2521185"/>
            <a:ext cx="1596628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7"/>
          <p:cNvSpPr txBox="1"/>
          <p:nvPr/>
        </p:nvSpPr>
        <p:spPr>
          <a:xfrm>
            <a:off x="4907756" y="2484127"/>
            <a:ext cx="16539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FFC66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mov eax, 0</a:t>
            </a:r>
            <a:br>
              <a:rPr b="0" i="0" lang="en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" sz="800" u="none" cap="none" strike="noStrike">
                <a:solidFill>
                  <a:srgbClr val="FFC66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ret</a:t>
            </a:r>
            <a:endParaRPr sz="1100"/>
          </a:p>
        </p:txBody>
      </p:sp>
      <p:sp>
        <p:nvSpPr>
          <p:cNvPr id="367" name="Google Shape;367;p37"/>
          <p:cNvSpPr txBox="1"/>
          <p:nvPr/>
        </p:nvSpPr>
        <p:spPr>
          <a:xfrm>
            <a:off x="4907756" y="3215468"/>
            <a:ext cx="1653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00FF9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0110100111100010 1010000011110101 0000110010101110</a:t>
            </a:r>
            <a:endParaRPr sz="1100"/>
          </a:p>
        </p:txBody>
      </p:sp>
      <p:sp>
        <p:nvSpPr>
          <p:cNvPr id="368" name="Google Shape;368;p37"/>
          <p:cNvSpPr txBox="1"/>
          <p:nvPr/>
        </p:nvSpPr>
        <p:spPr>
          <a:xfrm>
            <a:off x="435769" y="684795"/>
            <a:ext cx="8686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400" u="none" cap="none" strike="noStrike">
                <a:solidFill>
                  <a:srgbClr val="00FF9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STEP 3: ASSEMBLING</a:t>
            </a:r>
            <a:endParaRPr sz="1100"/>
          </a:p>
        </p:txBody>
      </p:sp>
      <p:sp>
        <p:nvSpPr>
          <p:cNvPr id="369" name="Google Shape;369;p37"/>
          <p:cNvSpPr/>
          <p:nvPr/>
        </p:nvSpPr>
        <p:spPr>
          <a:xfrm>
            <a:off x="435769" y="1227720"/>
            <a:ext cx="8272500" cy="72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74" name="Google Shape;374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5" name="Google Shape;375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5775" y="955749"/>
            <a:ext cx="8272450" cy="2222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6" name="Google Shape;376;p3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39297" y="1638483"/>
            <a:ext cx="714375" cy="857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7" name="Google Shape;377;p3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582296" y="1638483"/>
            <a:ext cx="714375" cy="857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8" name="Google Shape;378;p3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25297" y="1638483"/>
            <a:ext cx="714375" cy="8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38"/>
          <p:cNvSpPr txBox="1"/>
          <p:nvPr/>
        </p:nvSpPr>
        <p:spPr>
          <a:xfrm>
            <a:off x="435769" y="3700369"/>
            <a:ext cx="86862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6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Putting it Together</a:t>
            </a:r>
            <a:endParaRPr sz="1100"/>
          </a:p>
        </p:txBody>
      </p:sp>
      <p:sp>
        <p:nvSpPr>
          <p:cNvPr id="380" name="Google Shape;380;p38"/>
          <p:cNvSpPr txBox="1"/>
          <p:nvPr/>
        </p:nvSpPr>
        <p:spPr>
          <a:xfrm>
            <a:off x="435769" y="4086132"/>
            <a:ext cx="8272500" cy="4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A3A3A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Your code references functions (like printf) that you didn't write. The Linker combines your object code with the object code of those libraries to create one single executable file.</a:t>
            </a:r>
            <a:endParaRPr sz="1100"/>
          </a:p>
        </p:txBody>
      </p:sp>
      <p:sp>
        <p:nvSpPr>
          <p:cNvPr id="381" name="Google Shape;381;p38"/>
          <p:cNvSpPr txBox="1"/>
          <p:nvPr/>
        </p:nvSpPr>
        <p:spPr>
          <a:xfrm>
            <a:off x="3296546" y="1938520"/>
            <a:ext cx="1428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+</a:t>
            </a:r>
            <a:endParaRPr sz="1100"/>
          </a:p>
        </p:txBody>
      </p:sp>
      <p:sp>
        <p:nvSpPr>
          <p:cNvPr id="382" name="Google Shape;382;p38"/>
          <p:cNvSpPr txBox="1"/>
          <p:nvPr/>
        </p:nvSpPr>
        <p:spPr>
          <a:xfrm>
            <a:off x="4439547" y="1938520"/>
            <a:ext cx="1428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+</a:t>
            </a:r>
            <a:endParaRPr sz="1100"/>
          </a:p>
        </p:txBody>
      </p:sp>
      <p:pic>
        <p:nvPicPr>
          <p:cNvPr descr="image.png" id="383" name="Google Shape;383;p3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25422" y="1924233"/>
            <a:ext cx="250031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4" name="Google Shape;384;p3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261203" y="1567045"/>
            <a:ext cx="857250" cy="1000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5" name="Google Shape;385;p3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3864475" y="1874226"/>
            <a:ext cx="150019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6" name="Google Shape;386;p38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996759" y="1874226"/>
            <a:ext cx="1714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7" name="Google Shape;387;p38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589815" y="1788501"/>
            <a:ext cx="2000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88" name="Google Shape;388;p38"/>
          <p:cNvSpPr txBox="1"/>
          <p:nvPr/>
        </p:nvSpPr>
        <p:spPr>
          <a:xfrm>
            <a:off x="6546953" y="2088539"/>
            <a:ext cx="285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00FF9D"/>
                </a:solidFill>
                <a:latin typeface="Inter"/>
                <a:ea typeface="Inter"/>
                <a:cs typeface="Inter"/>
                <a:sym typeface="Inter"/>
              </a:rPr>
              <a:t>hello</a:t>
            </a:r>
            <a:endParaRPr sz="1100"/>
          </a:p>
        </p:txBody>
      </p:sp>
      <p:sp>
        <p:nvSpPr>
          <p:cNvPr id="389" name="Google Shape;389;p38"/>
          <p:cNvSpPr txBox="1"/>
          <p:nvPr/>
        </p:nvSpPr>
        <p:spPr>
          <a:xfrm>
            <a:off x="435769" y="246013"/>
            <a:ext cx="8686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400" u="none" cap="none" strike="noStrike">
                <a:solidFill>
                  <a:srgbClr val="00FF9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STEP 4: LINKING</a:t>
            </a:r>
            <a:endParaRPr sz="1100"/>
          </a:p>
        </p:txBody>
      </p:sp>
      <p:sp>
        <p:nvSpPr>
          <p:cNvPr id="390" name="Google Shape;390;p38"/>
          <p:cNvSpPr/>
          <p:nvPr/>
        </p:nvSpPr>
        <p:spPr>
          <a:xfrm>
            <a:off x="435769" y="788938"/>
            <a:ext cx="8272500" cy="72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95" name="Google Shape;395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96" name="Google Shape;396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62993" y="1548073"/>
            <a:ext cx="6617902" cy="204735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97" name="Google Shape;397;p3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29001" y="1848110"/>
            <a:ext cx="485775" cy="428625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p39"/>
          <p:cNvSpPr txBox="1"/>
          <p:nvPr/>
        </p:nvSpPr>
        <p:spPr>
          <a:xfrm>
            <a:off x="1563030" y="2419610"/>
            <a:ext cx="6018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LET'S WRITE CODE</a:t>
            </a:r>
            <a:endParaRPr sz="1100"/>
          </a:p>
        </p:txBody>
      </p:sp>
      <p:sp>
        <p:nvSpPr>
          <p:cNvPr id="399" name="Google Shape;399;p39"/>
          <p:cNvSpPr txBox="1"/>
          <p:nvPr/>
        </p:nvSpPr>
        <p:spPr>
          <a:xfrm>
            <a:off x="1563030" y="2755367"/>
            <a:ext cx="60180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AAAAA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Write a full C program that prints "Hello, C".</a:t>
            </a:r>
            <a:r>
              <a:rPr lang="en" sz="1000">
                <a:solidFill>
                  <a:srgbClr val="AAAAA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To visualize the flow</a:t>
            </a:r>
            <a:endParaRPr sz="11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04" name="Google Shape;404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05" name="Google Shape;405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5769" y="2624770"/>
            <a:ext cx="8272462" cy="1200150"/>
          </a:xfrm>
          <a:prstGeom prst="rect">
            <a:avLst/>
          </a:prstGeom>
          <a:noFill/>
          <a:ln>
            <a:noFill/>
          </a:ln>
        </p:spPr>
      </p:pic>
      <p:sp>
        <p:nvSpPr>
          <p:cNvPr id="406" name="Google Shape;406;p40"/>
          <p:cNvSpPr/>
          <p:nvPr/>
        </p:nvSpPr>
        <p:spPr>
          <a:xfrm>
            <a:off x="435769" y="2260439"/>
            <a:ext cx="8272500" cy="221400"/>
          </a:xfrm>
          <a:prstGeom prst="roundRect">
            <a:avLst>
              <a:gd fmla="val 12903" name="adj"/>
            </a:avLst>
          </a:prstGeom>
          <a:solidFill>
            <a:srgbClr val="00FF9D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40"/>
          <p:cNvSpPr txBox="1"/>
          <p:nvPr/>
        </p:nvSpPr>
        <p:spPr>
          <a:xfrm>
            <a:off x="542925" y="2296157"/>
            <a:ext cx="80583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HELLO.C</a:t>
            </a:r>
            <a:endParaRPr sz="1100"/>
          </a:p>
        </p:txBody>
      </p:sp>
      <p:sp>
        <p:nvSpPr>
          <p:cNvPr id="408" name="Google Shape;408;p40"/>
          <p:cNvSpPr txBox="1"/>
          <p:nvPr/>
        </p:nvSpPr>
        <p:spPr>
          <a:xfrm>
            <a:off x="585788" y="2774789"/>
            <a:ext cx="5715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CC783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#include</a:t>
            </a:r>
            <a:endParaRPr sz="1100"/>
          </a:p>
        </p:txBody>
      </p:sp>
      <p:sp>
        <p:nvSpPr>
          <p:cNvPr id="409" name="Google Shape;409;p40"/>
          <p:cNvSpPr txBox="1"/>
          <p:nvPr/>
        </p:nvSpPr>
        <p:spPr>
          <a:xfrm>
            <a:off x="585788" y="3074826"/>
            <a:ext cx="2145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FFC66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int</a:t>
            </a:r>
            <a:endParaRPr sz="1100"/>
          </a:p>
        </p:txBody>
      </p:sp>
      <p:sp>
        <p:nvSpPr>
          <p:cNvPr id="410" name="Google Shape;410;p40"/>
          <p:cNvSpPr txBox="1"/>
          <p:nvPr/>
        </p:nvSpPr>
        <p:spPr>
          <a:xfrm>
            <a:off x="1228725" y="3074826"/>
            <a:ext cx="285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FFC66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void</a:t>
            </a:r>
            <a:endParaRPr sz="1100"/>
          </a:p>
        </p:txBody>
      </p:sp>
      <p:sp>
        <p:nvSpPr>
          <p:cNvPr id="411" name="Google Shape;411;p40"/>
          <p:cNvSpPr txBox="1"/>
          <p:nvPr/>
        </p:nvSpPr>
        <p:spPr>
          <a:xfrm>
            <a:off x="728663" y="3224845"/>
            <a:ext cx="4287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CC783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printf</a:t>
            </a:r>
            <a:endParaRPr sz="1100"/>
          </a:p>
        </p:txBody>
      </p:sp>
      <p:sp>
        <p:nvSpPr>
          <p:cNvPr id="412" name="Google Shape;412;p40"/>
          <p:cNvSpPr txBox="1"/>
          <p:nvPr/>
        </p:nvSpPr>
        <p:spPr>
          <a:xfrm>
            <a:off x="1228725" y="3224845"/>
            <a:ext cx="8574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6A87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"Hello, C\n"</a:t>
            </a:r>
            <a:endParaRPr sz="1100"/>
          </a:p>
        </p:txBody>
      </p:sp>
      <p:sp>
        <p:nvSpPr>
          <p:cNvPr id="413" name="Google Shape;413;p40"/>
          <p:cNvSpPr txBox="1"/>
          <p:nvPr/>
        </p:nvSpPr>
        <p:spPr>
          <a:xfrm>
            <a:off x="728663" y="3374864"/>
            <a:ext cx="4287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CC783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return</a:t>
            </a:r>
            <a:endParaRPr sz="1100"/>
          </a:p>
        </p:txBody>
      </p:sp>
      <p:sp>
        <p:nvSpPr>
          <p:cNvPr id="414" name="Google Shape;414;p40"/>
          <p:cNvSpPr txBox="1"/>
          <p:nvPr/>
        </p:nvSpPr>
        <p:spPr>
          <a:xfrm>
            <a:off x="435769" y="684795"/>
            <a:ext cx="8686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400" u="none" cap="none" strike="noStrike">
                <a:solidFill>
                  <a:srgbClr val="00FF9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THE SOLUTION</a:t>
            </a:r>
            <a:endParaRPr sz="1100"/>
          </a:p>
        </p:txBody>
      </p:sp>
      <p:sp>
        <p:nvSpPr>
          <p:cNvPr id="415" name="Google Shape;415;p40"/>
          <p:cNvSpPr/>
          <p:nvPr/>
        </p:nvSpPr>
        <p:spPr>
          <a:xfrm>
            <a:off x="435769" y="1227720"/>
            <a:ext cx="8272500" cy="72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20" name="Google Shape;420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21" name="Google Shape;421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62993" y="1457994"/>
            <a:ext cx="6617902" cy="22273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22" name="Google Shape;422;p4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11154" y="1758031"/>
            <a:ext cx="321469" cy="428625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41"/>
          <p:cNvSpPr txBox="1"/>
          <p:nvPr/>
        </p:nvSpPr>
        <p:spPr>
          <a:xfrm>
            <a:off x="1563030" y="2329532"/>
            <a:ext cx="6018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FF0055"/>
                </a:solidFill>
                <a:latin typeface="Inter"/>
                <a:ea typeface="Inter"/>
                <a:cs typeface="Inter"/>
                <a:sym typeface="Inter"/>
              </a:rPr>
              <a:t>TIME TO TEST YOUR KNOWLEDGE</a:t>
            </a:r>
            <a:endParaRPr sz="1100"/>
          </a:p>
        </p:txBody>
      </p:sp>
      <p:sp>
        <p:nvSpPr>
          <p:cNvPr id="424" name="Google Shape;424;p41"/>
          <p:cNvSpPr txBox="1"/>
          <p:nvPr/>
        </p:nvSpPr>
        <p:spPr>
          <a:xfrm>
            <a:off x="1563030" y="2665288"/>
            <a:ext cx="60180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AAAAA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Verify_Knowledge_Base();</a:t>
            </a:r>
            <a:endParaRPr sz="1100"/>
          </a:p>
        </p:txBody>
      </p:sp>
      <p:sp>
        <p:nvSpPr>
          <p:cNvPr id="425" name="Google Shape;425;p41"/>
          <p:cNvSpPr txBox="1"/>
          <p:nvPr/>
        </p:nvSpPr>
        <p:spPr>
          <a:xfrm>
            <a:off x="1563030" y="3013881"/>
            <a:ext cx="60180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AAAAA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Are you ready to prove you understand Compilation &amp; C?</a:t>
            </a:r>
            <a:endParaRPr sz="11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30" name="Google Shape;430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31" name="Google Shape;431;p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89597" y="1385218"/>
            <a:ext cx="4164806" cy="2373063"/>
          </a:xfrm>
          <a:prstGeom prst="rect">
            <a:avLst/>
          </a:prstGeom>
          <a:noFill/>
          <a:ln>
            <a:noFill/>
          </a:ln>
        </p:spPr>
      </p:pic>
      <p:sp>
        <p:nvSpPr>
          <p:cNvPr id="432" name="Google Shape;432;p42"/>
          <p:cNvSpPr txBox="1"/>
          <p:nvPr/>
        </p:nvSpPr>
        <p:spPr>
          <a:xfrm>
            <a:off x="2850535" y="2183867"/>
            <a:ext cx="3443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34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Memory &amp; RAM</a:t>
            </a:r>
            <a:endParaRPr sz="1100"/>
          </a:p>
        </p:txBody>
      </p:sp>
      <p:sp>
        <p:nvSpPr>
          <p:cNvPr id="433" name="Google Shape;433;p42"/>
          <p:cNvSpPr txBox="1"/>
          <p:nvPr/>
        </p:nvSpPr>
        <p:spPr>
          <a:xfrm>
            <a:off x="2932509" y="2869667"/>
            <a:ext cx="3279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FF9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 Level 2: The Memory Grid</a:t>
            </a:r>
            <a:endParaRPr sz="11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38" name="Google Shape;438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39" name="Google Shape;439;p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5769" y="1685366"/>
            <a:ext cx="3921919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40" name="Google Shape;440;p4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3698" y="2578335"/>
            <a:ext cx="625189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41" name="Google Shape;441;p4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33698" y="2971241"/>
            <a:ext cx="156303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42" name="Google Shape;442;p4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33698" y="3364148"/>
            <a:ext cx="312606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443" name="Google Shape;443;p43"/>
          <p:cNvSpPr txBox="1"/>
          <p:nvPr/>
        </p:nvSpPr>
        <p:spPr>
          <a:xfrm>
            <a:off x="4786313" y="2321160"/>
            <a:ext cx="4118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6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Allocation Matters</a:t>
            </a:r>
            <a:endParaRPr sz="1100"/>
          </a:p>
        </p:txBody>
      </p:sp>
      <p:sp>
        <p:nvSpPr>
          <p:cNvPr id="444" name="Google Shape;444;p43"/>
          <p:cNvSpPr txBox="1"/>
          <p:nvPr/>
        </p:nvSpPr>
        <p:spPr>
          <a:xfrm>
            <a:off x="4786313" y="2706923"/>
            <a:ext cx="3921900" cy="4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A3A3A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 Python, numbers grow forever. In C, you have a fixed box size.</a:t>
            </a:r>
            <a:endParaRPr sz="1100"/>
          </a:p>
        </p:txBody>
      </p:sp>
      <p:sp>
        <p:nvSpPr>
          <p:cNvPr id="445" name="Google Shape;445;p43"/>
          <p:cNvSpPr txBox="1"/>
          <p:nvPr/>
        </p:nvSpPr>
        <p:spPr>
          <a:xfrm>
            <a:off x="4786313" y="3306998"/>
            <a:ext cx="3921900" cy="4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A3A3A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If you try to fit a </a:t>
            </a:r>
            <a:r>
              <a:rPr b="1" i="0" lang="en" sz="1100" u="none" cap="none" strike="noStrike">
                <a:solidFill>
                  <a:srgbClr val="A3A3A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long</a:t>
            </a:r>
            <a:r>
              <a:rPr b="0" i="0" lang="en" sz="1100" u="none" cap="none" strike="noStrike">
                <a:solidFill>
                  <a:srgbClr val="A3A3A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value into an </a:t>
            </a:r>
            <a:r>
              <a:rPr b="1" i="0" lang="en" sz="1100" u="none" cap="none" strike="noStrike">
                <a:solidFill>
                  <a:srgbClr val="A3A3A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int</a:t>
            </a:r>
            <a:r>
              <a:rPr b="0" i="0" lang="en" sz="1100" u="none" cap="none" strike="noStrike">
                <a:solidFill>
                  <a:srgbClr val="A3A3A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box, the data physically won't fit.</a:t>
            </a:r>
            <a:endParaRPr sz="1100"/>
          </a:p>
        </p:txBody>
      </p:sp>
      <p:sp>
        <p:nvSpPr>
          <p:cNvPr id="446" name="Google Shape;446;p43"/>
          <p:cNvSpPr txBox="1"/>
          <p:nvPr/>
        </p:nvSpPr>
        <p:spPr>
          <a:xfrm>
            <a:off x="435769" y="684795"/>
            <a:ext cx="8686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400" u="none" cap="none" strike="noStrike">
                <a:solidFill>
                  <a:srgbClr val="00FF9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THE COST OF DATA</a:t>
            </a:r>
            <a:endParaRPr sz="1100"/>
          </a:p>
        </p:txBody>
      </p:sp>
      <p:sp>
        <p:nvSpPr>
          <p:cNvPr id="447" name="Google Shape;447;p43"/>
          <p:cNvSpPr/>
          <p:nvPr/>
        </p:nvSpPr>
        <p:spPr>
          <a:xfrm>
            <a:off x="435769" y="1227720"/>
            <a:ext cx="8272500" cy="72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52" name="Google Shape;452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53" name="Google Shape;453;p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0" y="7144"/>
            <a:ext cx="4564856" cy="51292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54" name="Google Shape;454;p4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89897" y="1471613"/>
            <a:ext cx="3936207" cy="83581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55" name="Google Shape;455;p4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889897" y="3057525"/>
            <a:ext cx="3936207" cy="83581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56" name="Google Shape;456;p4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047059" y="1628775"/>
            <a:ext cx="421481" cy="52149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57" name="Google Shape;457;p4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504259" y="1628775"/>
            <a:ext cx="421481" cy="52149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58" name="Google Shape;458;p4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961459" y="1628775"/>
            <a:ext cx="421481" cy="52149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59" name="Google Shape;459;p4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418659" y="1628775"/>
            <a:ext cx="421481" cy="52149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60" name="Google Shape;460;p4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875859" y="1628775"/>
            <a:ext cx="421481" cy="52149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61" name="Google Shape;461;p4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333059" y="1628775"/>
            <a:ext cx="421481" cy="52149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62" name="Google Shape;462;p4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790259" y="1628775"/>
            <a:ext cx="421481" cy="52149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63" name="Google Shape;463;p4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247459" y="1628775"/>
            <a:ext cx="421481" cy="52149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64" name="Google Shape;464;p4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047059" y="3214688"/>
            <a:ext cx="421481" cy="52149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65" name="Google Shape;465;p44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5504259" y="3214688"/>
            <a:ext cx="421481" cy="52149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66" name="Google Shape;466;p44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5961459" y="3214688"/>
            <a:ext cx="421481" cy="52149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67" name="Google Shape;467;p44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418659" y="3214688"/>
            <a:ext cx="421481" cy="52149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68" name="Google Shape;468;p44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6875859" y="3214688"/>
            <a:ext cx="421481" cy="52149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69" name="Google Shape;469;p44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7333059" y="3214688"/>
            <a:ext cx="421481" cy="52149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70" name="Google Shape;470;p44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7790259" y="3214688"/>
            <a:ext cx="421481" cy="52149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71" name="Google Shape;471;p44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247459" y="3214688"/>
            <a:ext cx="421481" cy="521494"/>
          </a:xfrm>
          <a:prstGeom prst="rect">
            <a:avLst/>
          </a:prstGeom>
          <a:noFill/>
          <a:ln>
            <a:noFill/>
          </a:ln>
        </p:spPr>
      </p:pic>
      <p:sp>
        <p:nvSpPr>
          <p:cNvPr id="472" name="Google Shape;472;p44"/>
          <p:cNvSpPr txBox="1"/>
          <p:nvPr/>
        </p:nvSpPr>
        <p:spPr>
          <a:xfrm>
            <a:off x="435769" y="1653778"/>
            <a:ext cx="3893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FF0055"/>
                </a:solidFill>
                <a:latin typeface="Inter"/>
                <a:ea typeface="Inter"/>
                <a:cs typeface="Inter"/>
                <a:sym typeface="Inter"/>
              </a:rPr>
              <a:t>Integer Overflow</a:t>
            </a:r>
            <a:endParaRPr sz="1100"/>
          </a:p>
        </p:txBody>
      </p:sp>
      <p:sp>
        <p:nvSpPr>
          <p:cNvPr id="473" name="Google Shape;473;p44"/>
          <p:cNvSpPr txBox="1"/>
          <p:nvPr/>
        </p:nvSpPr>
        <p:spPr>
          <a:xfrm>
            <a:off x="435769" y="2146027"/>
            <a:ext cx="3707400" cy="4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A3A3A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What happens when you add 1 to the max number? It wraps around.</a:t>
            </a:r>
            <a:endParaRPr sz="1100"/>
          </a:p>
        </p:txBody>
      </p:sp>
      <p:sp>
        <p:nvSpPr>
          <p:cNvPr id="474" name="Google Shape;474;p44"/>
          <p:cNvSpPr txBox="1"/>
          <p:nvPr/>
        </p:nvSpPr>
        <p:spPr>
          <a:xfrm>
            <a:off x="435769" y="3031852"/>
            <a:ext cx="37074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A3A3A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This caused the Y2K bug and crashes rockets.</a:t>
            </a:r>
            <a:endParaRPr sz="1100"/>
          </a:p>
        </p:txBody>
      </p:sp>
      <p:sp>
        <p:nvSpPr>
          <p:cNvPr id="475" name="Google Shape;475;p44"/>
          <p:cNvSpPr txBox="1"/>
          <p:nvPr/>
        </p:nvSpPr>
        <p:spPr>
          <a:xfrm>
            <a:off x="4889897" y="1250156"/>
            <a:ext cx="39363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66666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8-BIT LIMIT</a:t>
            </a:r>
            <a:endParaRPr sz="1100"/>
          </a:p>
        </p:txBody>
      </p:sp>
      <p:sp>
        <p:nvSpPr>
          <p:cNvPr id="476" name="Google Shape;476;p44"/>
          <p:cNvSpPr txBox="1"/>
          <p:nvPr/>
        </p:nvSpPr>
        <p:spPr>
          <a:xfrm>
            <a:off x="4889897" y="2450306"/>
            <a:ext cx="39363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FF0055"/>
                </a:solidFill>
                <a:latin typeface="Inter"/>
                <a:ea typeface="Inter"/>
                <a:cs typeface="Inter"/>
                <a:sym typeface="Inter"/>
              </a:rPr>
              <a:t>+ 1</a:t>
            </a:r>
            <a:endParaRPr sz="1100"/>
          </a:p>
        </p:txBody>
      </p:sp>
      <p:pic>
        <p:nvPicPr>
          <p:cNvPr descr="image.png" id="477" name="Google Shape;477;p44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6815138" y="2800350"/>
            <a:ext cx="85725" cy="11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82" name="Google Shape;482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83" name="Google Shape;483;p4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86313" y="1685366"/>
            <a:ext cx="3921919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84" name="Google Shape;484;p4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5769" y="2988431"/>
            <a:ext cx="3921919" cy="600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85" name="Google Shape;485;p4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461397" y="2706923"/>
            <a:ext cx="1071563" cy="8143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86" name="Google Shape;486;p4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961584" y="2671204"/>
            <a:ext cx="1071563" cy="885825"/>
          </a:xfrm>
          <a:prstGeom prst="rect">
            <a:avLst/>
          </a:prstGeom>
          <a:noFill/>
          <a:ln>
            <a:noFill/>
          </a:ln>
        </p:spPr>
      </p:pic>
      <p:sp>
        <p:nvSpPr>
          <p:cNvPr id="487" name="Google Shape;487;p45"/>
          <p:cNvSpPr txBox="1"/>
          <p:nvPr/>
        </p:nvSpPr>
        <p:spPr>
          <a:xfrm>
            <a:off x="435769" y="2002594"/>
            <a:ext cx="4118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6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What is a Pointer?</a:t>
            </a:r>
            <a:endParaRPr sz="1100"/>
          </a:p>
        </p:txBody>
      </p:sp>
      <p:sp>
        <p:nvSpPr>
          <p:cNvPr id="488" name="Google Shape;488;p45"/>
          <p:cNvSpPr txBox="1"/>
          <p:nvPr/>
        </p:nvSpPr>
        <p:spPr>
          <a:xfrm>
            <a:off x="435769" y="2388356"/>
            <a:ext cx="3921900" cy="4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A3A3A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 pointer is a variable that stores the </a:t>
            </a:r>
            <a:r>
              <a:rPr b="1" i="0" lang="en" sz="1100" u="none" cap="none" strike="noStrike">
                <a:solidFill>
                  <a:srgbClr val="A3A3A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address</a:t>
            </a:r>
            <a:r>
              <a:rPr b="0" i="0" lang="en" sz="1100" u="none" cap="none" strike="noStrike">
                <a:solidFill>
                  <a:srgbClr val="A3A3A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of another variable, not a value.</a:t>
            </a:r>
            <a:endParaRPr sz="1100"/>
          </a:p>
        </p:txBody>
      </p:sp>
      <p:sp>
        <p:nvSpPr>
          <p:cNvPr id="489" name="Google Shape;489;p45"/>
          <p:cNvSpPr txBox="1"/>
          <p:nvPr/>
        </p:nvSpPr>
        <p:spPr>
          <a:xfrm>
            <a:off x="435769" y="3731381"/>
            <a:ext cx="39219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A3A3A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&amp;n means "Get address of n".</a:t>
            </a:r>
            <a:br>
              <a:rPr b="0" i="0" lang="en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" sz="900" u="none" cap="none" strike="noStrike">
                <a:solidFill>
                  <a:srgbClr val="A3A3A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*p means "Go to address p".</a:t>
            </a:r>
            <a:endParaRPr sz="1100"/>
          </a:p>
        </p:txBody>
      </p:sp>
      <p:sp>
        <p:nvSpPr>
          <p:cNvPr id="490" name="Google Shape;490;p45"/>
          <p:cNvSpPr txBox="1"/>
          <p:nvPr/>
        </p:nvSpPr>
        <p:spPr>
          <a:xfrm>
            <a:off x="585788" y="3138450"/>
            <a:ext cx="2145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FFC66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int</a:t>
            </a:r>
            <a:endParaRPr sz="1100"/>
          </a:p>
        </p:txBody>
      </p:sp>
      <p:sp>
        <p:nvSpPr>
          <p:cNvPr id="491" name="Google Shape;491;p45"/>
          <p:cNvSpPr txBox="1"/>
          <p:nvPr/>
        </p:nvSpPr>
        <p:spPr>
          <a:xfrm>
            <a:off x="1157288" y="3138450"/>
            <a:ext cx="1428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6897B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50</a:t>
            </a:r>
            <a:endParaRPr sz="1100"/>
          </a:p>
        </p:txBody>
      </p:sp>
      <p:sp>
        <p:nvSpPr>
          <p:cNvPr id="492" name="Google Shape;492;p45"/>
          <p:cNvSpPr txBox="1"/>
          <p:nvPr/>
        </p:nvSpPr>
        <p:spPr>
          <a:xfrm>
            <a:off x="585788" y="3288469"/>
            <a:ext cx="2145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FFC66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int</a:t>
            </a:r>
            <a:endParaRPr sz="1100"/>
          </a:p>
        </p:txBody>
      </p:sp>
      <p:sp>
        <p:nvSpPr>
          <p:cNvPr id="493" name="Google Shape;493;p45"/>
          <p:cNvSpPr txBox="1"/>
          <p:nvPr/>
        </p:nvSpPr>
        <p:spPr>
          <a:xfrm>
            <a:off x="5475670" y="2542625"/>
            <a:ext cx="4572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66666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0x981</a:t>
            </a:r>
            <a:endParaRPr sz="1100"/>
          </a:p>
        </p:txBody>
      </p:sp>
      <p:sp>
        <p:nvSpPr>
          <p:cNvPr id="494" name="Google Shape;494;p45"/>
          <p:cNvSpPr txBox="1"/>
          <p:nvPr/>
        </p:nvSpPr>
        <p:spPr>
          <a:xfrm>
            <a:off x="5689997" y="2935523"/>
            <a:ext cx="6144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FF005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</a:t>
            </a:r>
            <a:endParaRPr sz="1100"/>
          </a:p>
        </p:txBody>
      </p:sp>
      <p:sp>
        <p:nvSpPr>
          <p:cNvPr id="495" name="Google Shape;495;p45"/>
          <p:cNvSpPr txBox="1"/>
          <p:nvPr/>
        </p:nvSpPr>
        <p:spPr>
          <a:xfrm>
            <a:off x="5689997" y="3085541"/>
            <a:ext cx="614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00FF9D"/>
                </a:solidFill>
                <a:latin typeface="Inter"/>
                <a:ea typeface="Inter"/>
                <a:cs typeface="Inter"/>
                <a:sym typeface="Inter"/>
              </a:rPr>
              <a:t>0x123</a:t>
            </a:r>
            <a:endParaRPr sz="1100"/>
          </a:p>
        </p:txBody>
      </p:sp>
      <p:sp>
        <p:nvSpPr>
          <p:cNvPr id="496" name="Google Shape;496;p45"/>
          <p:cNvSpPr/>
          <p:nvPr/>
        </p:nvSpPr>
        <p:spPr>
          <a:xfrm>
            <a:off x="6518672" y="3114116"/>
            <a:ext cx="428700" cy="14400"/>
          </a:xfrm>
          <a:prstGeom prst="roundRect">
            <a:avLst>
              <a:gd fmla="val 16667" name="adj"/>
            </a:avLst>
          </a:prstGeom>
          <a:solidFill>
            <a:srgbClr val="FF005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45"/>
          <p:cNvSpPr txBox="1"/>
          <p:nvPr/>
        </p:nvSpPr>
        <p:spPr>
          <a:xfrm>
            <a:off x="6975877" y="2506900"/>
            <a:ext cx="4572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66666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0x123</a:t>
            </a:r>
            <a:endParaRPr sz="1100"/>
          </a:p>
        </p:txBody>
      </p:sp>
      <p:sp>
        <p:nvSpPr>
          <p:cNvPr id="498" name="Google Shape;498;p45"/>
          <p:cNvSpPr txBox="1"/>
          <p:nvPr/>
        </p:nvSpPr>
        <p:spPr>
          <a:xfrm>
            <a:off x="7190184" y="2899804"/>
            <a:ext cx="6144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00FF9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</a:t>
            </a:r>
            <a:endParaRPr sz="1100"/>
          </a:p>
        </p:txBody>
      </p:sp>
      <p:sp>
        <p:nvSpPr>
          <p:cNvPr id="499" name="Google Shape;499;p45"/>
          <p:cNvSpPr txBox="1"/>
          <p:nvPr/>
        </p:nvSpPr>
        <p:spPr>
          <a:xfrm>
            <a:off x="7190184" y="3049823"/>
            <a:ext cx="614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800" u="none" cap="none" strike="noStrike">
                <a:solidFill>
                  <a:srgbClr val="00FF9D"/>
                </a:solidFill>
                <a:latin typeface="Inter"/>
                <a:ea typeface="Inter"/>
                <a:cs typeface="Inter"/>
                <a:sym typeface="Inter"/>
              </a:rPr>
              <a:t>50</a:t>
            </a:r>
            <a:endParaRPr sz="1100"/>
          </a:p>
        </p:txBody>
      </p:sp>
      <p:sp>
        <p:nvSpPr>
          <p:cNvPr id="500" name="Google Shape;500;p45"/>
          <p:cNvSpPr txBox="1"/>
          <p:nvPr/>
        </p:nvSpPr>
        <p:spPr>
          <a:xfrm>
            <a:off x="435769" y="684795"/>
            <a:ext cx="8686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400" u="none" cap="none" strike="noStrike">
                <a:solidFill>
                  <a:srgbClr val="00FF9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POINTERS: THE POWER OF ADDRESS</a:t>
            </a:r>
            <a:endParaRPr sz="1100"/>
          </a:p>
        </p:txBody>
      </p:sp>
      <p:sp>
        <p:nvSpPr>
          <p:cNvPr id="501" name="Google Shape;501;p45"/>
          <p:cNvSpPr/>
          <p:nvPr/>
        </p:nvSpPr>
        <p:spPr>
          <a:xfrm>
            <a:off x="435769" y="1227720"/>
            <a:ext cx="8272500" cy="72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506" name="Google Shape;506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07" name="Google Shape;507;p4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86313" y="3467732"/>
            <a:ext cx="3921919" cy="600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08" name="Google Shape;508;p4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039540" y="2510470"/>
            <a:ext cx="714375" cy="714375"/>
          </a:xfrm>
          <a:prstGeom prst="rect">
            <a:avLst/>
          </a:prstGeom>
          <a:noFill/>
          <a:ln>
            <a:noFill/>
          </a:ln>
        </p:spPr>
      </p:pic>
      <p:sp>
        <p:nvSpPr>
          <p:cNvPr id="509" name="Google Shape;509;p46"/>
          <p:cNvSpPr txBox="1"/>
          <p:nvPr/>
        </p:nvSpPr>
        <p:spPr>
          <a:xfrm>
            <a:off x="337721" y="3367720"/>
            <a:ext cx="4118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600" u="none" cap="none" strike="noStrike">
                <a:solidFill>
                  <a:srgbClr val="FF0055"/>
                </a:solidFill>
                <a:latin typeface="Inter"/>
                <a:ea typeface="Inter"/>
                <a:cs typeface="Inter"/>
                <a:sym typeface="Inter"/>
              </a:rPr>
              <a:t>Access Denied</a:t>
            </a:r>
            <a:endParaRPr sz="1100"/>
          </a:p>
        </p:txBody>
      </p:sp>
      <p:sp>
        <p:nvSpPr>
          <p:cNvPr id="510" name="Google Shape;510;p46"/>
          <p:cNvSpPr txBox="1"/>
          <p:nvPr/>
        </p:nvSpPr>
        <p:spPr>
          <a:xfrm>
            <a:off x="4786313" y="2017551"/>
            <a:ext cx="4118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6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Touching Forbidden Memory</a:t>
            </a:r>
            <a:endParaRPr sz="1100"/>
          </a:p>
        </p:txBody>
      </p:sp>
      <p:sp>
        <p:nvSpPr>
          <p:cNvPr id="511" name="Google Shape;511;p46"/>
          <p:cNvSpPr txBox="1"/>
          <p:nvPr/>
        </p:nvSpPr>
        <p:spPr>
          <a:xfrm>
            <a:off x="4786313" y="2403314"/>
            <a:ext cx="3921900" cy="7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A3A3A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If you try to access an address that doesn't belong to your program (like NULL or random garbage), the OS kills your process instantly.</a:t>
            </a:r>
            <a:endParaRPr sz="1100"/>
          </a:p>
        </p:txBody>
      </p:sp>
      <p:sp>
        <p:nvSpPr>
          <p:cNvPr id="512" name="Google Shape;512;p46"/>
          <p:cNvSpPr txBox="1"/>
          <p:nvPr/>
        </p:nvSpPr>
        <p:spPr>
          <a:xfrm>
            <a:off x="4936331" y="3617751"/>
            <a:ext cx="2145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FFC66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int</a:t>
            </a:r>
            <a:endParaRPr sz="1100"/>
          </a:p>
        </p:txBody>
      </p:sp>
      <p:sp>
        <p:nvSpPr>
          <p:cNvPr id="513" name="Google Shape;513;p46"/>
          <p:cNvSpPr txBox="1"/>
          <p:nvPr/>
        </p:nvSpPr>
        <p:spPr>
          <a:xfrm>
            <a:off x="5579269" y="3617751"/>
            <a:ext cx="285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CC783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NULL</a:t>
            </a:r>
            <a:endParaRPr sz="1100"/>
          </a:p>
        </p:txBody>
      </p:sp>
      <p:sp>
        <p:nvSpPr>
          <p:cNvPr id="514" name="Google Shape;514;p46"/>
          <p:cNvSpPr txBox="1"/>
          <p:nvPr/>
        </p:nvSpPr>
        <p:spPr>
          <a:xfrm>
            <a:off x="4936331" y="3767770"/>
            <a:ext cx="4287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CC783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printf</a:t>
            </a:r>
            <a:endParaRPr sz="1100"/>
          </a:p>
        </p:txBody>
      </p:sp>
      <p:sp>
        <p:nvSpPr>
          <p:cNvPr id="515" name="Google Shape;515;p46"/>
          <p:cNvSpPr txBox="1"/>
          <p:nvPr/>
        </p:nvSpPr>
        <p:spPr>
          <a:xfrm>
            <a:off x="5436394" y="3767770"/>
            <a:ext cx="285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6A87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"%d"</a:t>
            </a:r>
            <a:endParaRPr sz="1100"/>
          </a:p>
        </p:txBody>
      </p:sp>
      <p:sp>
        <p:nvSpPr>
          <p:cNvPr id="516" name="Google Shape;516;p46"/>
          <p:cNvSpPr txBox="1"/>
          <p:nvPr/>
        </p:nvSpPr>
        <p:spPr>
          <a:xfrm>
            <a:off x="6222206" y="3767770"/>
            <a:ext cx="6432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900" u="none" cap="none" strike="noStrike">
                <a:solidFill>
                  <a:srgbClr val="55555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CRASH!</a:t>
            </a:r>
            <a:endParaRPr sz="1100"/>
          </a:p>
        </p:txBody>
      </p:sp>
      <p:sp>
        <p:nvSpPr>
          <p:cNvPr id="517" name="Google Shape;517;p46"/>
          <p:cNvSpPr txBox="1"/>
          <p:nvPr/>
        </p:nvSpPr>
        <p:spPr>
          <a:xfrm>
            <a:off x="435769" y="684795"/>
            <a:ext cx="8686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400" u="none" cap="none" strike="noStrike">
                <a:solidFill>
                  <a:srgbClr val="FF005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SEGMENTATION FAULT</a:t>
            </a:r>
            <a:endParaRPr sz="1100"/>
          </a:p>
        </p:txBody>
      </p:sp>
      <p:sp>
        <p:nvSpPr>
          <p:cNvPr id="518" name="Google Shape;518;p46"/>
          <p:cNvSpPr/>
          <p:nvPr/>
        </p:nvSpPr>
        <p:spPr>
          <a:xfrm>
            <a:off x="435769" y="1227720"/>
            <a:ext cx="8272500" cy="72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523" name="Google Shape;523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24" name="Google Shape;524;p4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86313" y="1685366"/>
            <a:ext cx="3921919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25" name="Google Shape;525;p4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5769" y="3160551"/>
            <a:ext cx="3921919" cy="600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26" name="Google Shape;526;p4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472363" y="2756929"/>
            <a:ext cx="714375" cy="714375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47"/>
          <p:cNvSpPr txBox="1"/>
          <p:nvPr/>
        </p:nvSpPr>
        <p:spPr>
          <a:xfrm>
            <a:off x="435769" y="1946114"/>
            <a:ext cx="4118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6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Passing by Reference</a:t>
            </a:r>
            <a:endParaRPr sz="1100"/>
          </a:p>
        </p:txBody>
      </p:sp>
      <p:sp>
        <p:nvSpPr>
          <p:cNvPr id="528" name="Google Shape;528;p47"/>
          <p:cNvSpPr txBox="1"/>
          <p:nvPr/>
        </p:nvSpPr>
        <p:spPr>
          <a:xfrm>
            <a:off x="435769" y="2331876"/>
            <a:ext cx="3921900" cy="7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A3A3A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To change a variable (like filling it with input), a function needs to know </a:t>
            </a:r>
            <a:r>
              <a:rPr b="1" i="0" lang="en" sz="1100" u="none" cap="none" strike="noStrike">
                <a:solidFill>
                  <a:srgbClr val="A3A3A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where</a:t>
            </a:r>
            <a:r>
              <a:rPr b="0" i="0" lang="en" sz="1100" u="none" cap="none" strike="noStrike">
                <a:solidFill>
                  <a:srgbClr val="A3A3A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it lives.</a:t>
            </a:r>
            <a:endParaRPr sz="1100"/>
          </a:p>
        </p:txBody>
      </p:sp>
      <p:sp>
        <p:nvSpPr>
          <p:cNvPr id="529" name="Google Shape;529;p47"/>
          <p:cNvSpPr txBox="1"/>
          <p:nvPr/>
        </p:nvSpPr>
        <p:spPr>
          <a:xfrm>
            <a:off x="435769" y="3903501"/>
            <a:ext cx="39219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A3A3A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The &amp; operator means "The Address Of".</a:t>
            </a:r>
            <a:endParaRPr sz="1100"/>
          </a:p>
        </p:txBody>
      </p:sp>
      <p:sp>
        <p:nvSpPr>
          <p:cNvPr id="530" name="Google Shape;530;p47"/>
          <p:cNvSpPr txBox="1"/>
          <p:nvPr/>
        </p:nvSpPr>
        <p:spPr>
          <a:xfrm>
            <a:off x="1443038" y="3460589"/>
            <a:ext cx="717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FF005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&amp;</a:t>
            </a:r>
            <a:endParaRPr sz="1100"/>
          </a:p>
        </p:txBody>
      </p:sp>
      <p:pic>
        <p:nvPicPr>
          <p:cNvPr descr="image.png" id="531" name="Google Shape;531;p4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865144" y="2971241"/>
            <a:ext cx="250031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32" name="Google Shape;532;p4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47147" y="2749785"/>
            <a:ext cx="321469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533" name="Google Shape;533;p47"/>
          <p:cNvSpPr txBox="1"/>
          <p:nvPr/>
        </p:nvSpPr>
        <p:spPr>
          <a:xfrm>
            <a:off x="5307806" y="3106973"/>
            <a:ext cx="12003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A3A3A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User Types: </a:t>
            </a:r>
            <a:r>
              <a:rPr b="1" i="0" lang="en" sz="1100" u="none" cap="none" strike="noStrike">
                <a:solidFill>
                  <a:srgbClr val="A3A3A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42</a:t>
            </a:r>
            <a:endParaRPr sz="1100"/>
          </a:p>
        </p:txBody>
      </p:sp>
      <p:sp>
        <p:nvSpPr>
          <p:cNvPr id="534" name="Google Shape;534;p47"/>
          <p:cNvSpPr txBox="1"/>
          <p:nvPr/>
        </p:nvSpPr>
        <p:spPr>
          <a:xfrm>
            <a:off x="7686675" y="2592623"/>
            <a:ext cx="2859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66666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0x123</a:t>
            </a:r>
            <a:endParaRPr sz="1100"/>
          </a:p>
        </p:txBody>
      </p:sp>
      <p:sp>
        <p:nvSpPr>
          <p:cNvPr id="535" name="Google Shape;535;p47"/>
          <p:cNvSpPr txBox="1"/>
          <p:nvPr/>
        </p:nvSpPr>
        <p:spPr>
          <a:xfrm>
            <a:off x="7679531" y="2974814"/>
            <a:ext cx="300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800" u="none" cap="none" strike="noStrike">
                <a:solidFill>
                  <a:srgbClr val="00FF9D"/>
                </a:solidFill>
                <a:latin typeface="Inter"/>
                <a:ea typeface="Inter"/>
                <a:cs typeface="Inter"/>
                <a:sym typeface="Inter"/>
              </a:rPr>
              <a:t>42</a:t>
            </a:r>
            <a:endParaRPr sz="1100"/>
          </a:p>
        </p:txBody>
      </p:sp>
      <p:sp>
        <p:nvSpPr>
          <p:cNvPr id="536" name="Google Shape;536;p47"/>
          <p:cNvSpPr txBox="1"/>
          <p:nvPr/>
        </p:nvSpPr>
        <p:spPr>
          <a:xfrm>
            <a:off x="435769" y="684795"/>
            <a:ext cx="8686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400" u="none" cap="none" strike="noStrike">
                <a:solidFill>
                  <a:srgbClr val="00FF9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INPUT: THE ADDRESS OPERATOR</a:t>
            </a:r>
            <a:endParaRPr sz="1100"/>
          </a:p>
        </p:txBody>
      </p:sp>
      <p:sp>
        <p:nvSpPr>
          <p:cNvPr id="537" name="Google Shape;537;p47"/>
          <p:cNvSpPr/>
          <p:nvPr/>
        </p:nvSpPr>
        <p:spPr>
          <a:xfrm>
            <a:off x="435769" y="1227720"/>
            <a:ext cx="8272500" cy="72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542" name="Google Shape;542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43" name="Google Shape;543;p4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50181" y="1661591"/>
            <a:ext cx="6243638" cy="1820317"/>
          </a:xfrm>
          <a:prstGeom prst="rect">
            <a:avLst/>
          </a:prstGeom>
          <a:noFill/>
          <a:ln>
            <a:noFill/>
          </a:ln>
        </p:spPr>
      </p:pic>
      <p:sp>
        <p:nvSpPr>
          <p:cNvPr id="544" name="Google Shape;544;p48"/>
          <p:cNvSpPr txBox="1"/>
          <p:nvPr/>
        </p:nvSpPr>
        <p:spPr>
          <a:xfrm>
            <a:off x="1601629" y="2096690"/>
            <a:ext cx="5940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E5E5E5"/>
                </a:solidFill>
                <a:latin typeface="Inter"/>
                <a:ea typeface="Inter"/>
                <a:cs typeface="Inter"/>
                <a:sym typeface="Inter"/>
              </a:rPr>
              <a:t>RAM</a:t>
            </a:r>
            <a:r>
              <a:rPr b="1" i="0" lang="en" sz="1400" u="none" cap="none" strike="noStrike">
                <a:solidFill>
                  <a:srgbClr val="E5E5E5"/>
                </a:solidFill>
                <a:latin typeface="Inter"/>
                <a:ea typeface="Inter"/>
                <a:cs typeface="Inter"/>
                <a:sym typeface="Inter"/>
              </a:rPr>
              <a:t> (</a:t>
            </a:r>
            <a:r>
              <a:rPr b="1" lang="en">
                <a:solidFill>
                  <a:srgbClr val="E5E5E5"/>
                </a:solidFill>
                <a:latin typeface="Inter"/>
                <a:ea typeface="Inter"/>
                <a:cs typeface="Inter"/>
                <a:sym typeface="Inter"/>
              </a:rPr>
              <a:t>The Grid</a:t>
            </a:r>
            <a:r>
              <a:rPr b="1" i="0" lang="en" sz="1400" u="none" cap="none" strike="noStrike">
                <a:solidFill>
                  <a:srgbClr val="E5E5E5"/>
                </a:solidFill>
                <a:latin typeface="Inter"/>
                <a:ea typeface="Inter"/>
                <a:cs typeface="Inter"/>
                <a:sym typeface="Inter"/>
              </a:rPr>
              <a:t>)</a:t>
            </a:r>
            <a:endParaRPr sz="1100"/>
          </a:p>
        </p:txBody>
      </p:sp>
      <p:sp>
        <p:nvSpPr>
          <p:cNvPr id="545" name="Google Shape;545;p48"/>
          <p:cNvSpPr txBox="1"/>
          <p:nvPr/>
        </p:nvSpPr>
        <p:spPr>
          <a:xfrm>
            <a:off x="1743075" y="2446064"/>
            <a:ext cx="56580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00FF9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 Random Access Memory</a:t>
            </a:r>
            <a:endParaRPr sz="1100"/>
          </a:p>
        </p:txBody>
      </p:sp>
      <p:sp>
        <p:nvSpPr>
          <p:cNvPr id="546" name="Google Shape;546;p48"/>
          <p:cNvSpPr txBox="1"/>
          <p:nvPr/>
        </p:nvSpPr>
        <p:spPr>
          <a:xfrm>
            <a:off x="1743075" y="2817539"/>
            <a:ext cx="56580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A3A3A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Every byte has an address. Every variable lives in a numbered box.</a:t>
            </a:r>
            <a:endParaRPr sz="11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551" name="Google Shape;551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52" name="Google Shape;552;p4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86313" y="1685366"/>
            <a:ext cx="3921919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53" name="Google Shape;553;p4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5769" y="2896232"/>
            <a:ext cx="3921919" cy="4500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54" name="Google Shape;554;p4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632847" y="2828366"/>
            <a:ext cx="5715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55" name="Google Shape;555;p4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190059" y="2828366"/>
            <a:ext cx="5715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56" name="Google Shape;556;p4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747272" y="2828366"/>
            <a:ext cx="5715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57" name="Google Shape;557;p4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304484" y="2828366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558" name="Google Shape;558;p49"/>
          <p:cNvSpPr txBox="1"/>
          <p:nvPr/>
        </p:nvSpPr>
        <p:spPr>
          <a:xfrm>
            <a:off x="435769" y="2138995"/>
            <a:ext cx="4118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6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Back-to-Back</a:t>
            </a:r>
            <a:endParaRPr sz="1100"/>
          </a:p>
        </p:txBody>
      </p:sp>
      <p:sp>
        <p:nvSpPr>
          <p:cNvPr id="559" name="Google Shape;559;p49"/>
          <p:cNvSpPr txBox="1"/>
          <p:nvPr/>
        </p:nvSpPr>
        <p:spPr>
          <a:xfrm>
            <a:off x="435769" y="2524757"/>
            <a:ext cx="39219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A3A3A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An array is a request for neighboring houses.</a:t>
            </a:r>
            <a:endParaRPr sz="1100"/>
          </a:p>
        </p:txBody>
      </p:sp>
      <p:sp>
        <p:nvSpPr>
          <p:cNvPr id="560" name="Google Shape;560;p49"/>
          <p:cNvSpPr txBox="1"/>
          <p:nvPr/>
        </p:nvSpPr>
        <p:spPr>
          <a:xfrm>
            <a:off x="435769" y="3489164"/>
            <a:ext cx="3921900" cy="4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A3A3A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We can find any item instantly because we know exactly how wide each house is.</a:t>
            </a:r>
            <a:endParaRPr sz="1100"/>
          </a:p>
        </p:txBody>
      </p:sp>
      <p:sp>
        <p:nvSpPr>
          <p:cNvPr id="561" name="Google Shape;561;p49"/>
          <p:cNvSpPr txBox="1"/>
          <p:nvPr/>
        </p:nvSpPr>
        <p:spPr>
          <a:xfrm>
            <a:off x="5890022" y="2664060"/>
            <a:ext cx="570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66666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</a:t>
            </a:r>
            <a:endParaRPr sz="1100"/>
          </a:p>
        </p:txBody>
      </p:sp>
      <p:sp>
        <p:nvSpPr>
          <p:cNvPr id="562" name="Google Shape;562;p49"/>
          <p:cNvSpPr txBox="1"/>
          <p:nvPr/>
        </p:nvSpPr>
        <p:spPr>
          <a:xfrm>
            <a:off x="6447234" y="2664060"/>
            <a:ext cx="570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66666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</a:t>
            </a:r>
            <a:endParaRPr sz="1100"/>
          </a:p>
        </p:txBody>
      </p:sp>
      <p:sp>
        <p:nvSpPr>
          <p:cNvPr id="563" name="Google Shape;563;p49"/>
          <p:cNvSpPr txBox="1"/>
          <p:nvPr/>
        </p:nvSpPr>
        <p:spPr>
          <a:xfrm>
            <a:off x="7004447" y="2664060"/>
            <a:ext cx="570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66666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</a:t>
            </a:r>
            <a:endParaRPr sz="1100"/>
          </a:p>
        </p:txBody>
      </p:sp>
      <p:sp>
        <p:nvSpPr>
          <p:cNvPr id="564" name="Google Shape;564;p49"/>
          <p:cNvSpPr txBox="1"/>
          <p:nvPr/>
        </p:nvSpPr>
        <p:spPr>
          <a:xfrm>
            <a:off x="7561659" y="2664060"/>
            <a:ext cx="570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66666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3</a:t>
            </a:r>
            <a:endParaRPr sz="1100"/>
          </a:p>
        </p:txBody>
      </p:sp>
      <p:sp>
        <p:nvSpPr>
          <p:cNvPr id="565" name="Google Shape;565;p49"/>
          <p:cNvSpPr txBox="1"/>
          <p:nvPr/>
        </p:nvSpPr>
        <p:spPr>
          <a:xfrm>
            <a:off x="435769" y="684795"/>
            <a:ext cx="8686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400" u="none" cap="none" strike="noStrike">
                <a:solidFill>
                  <a:srgbClr val="00FF9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ARRAYS: CONTIGUOUS MEMORY</a:t>
            </a:r>
            <a:endParaRPr sz="1100"/>
          </a:p>
        </p:txBody>
      </p:sp>
      <p:sp>
        <p:nvSpPr>
          <p:cNvPr id="566" name="Google Shape;566;p49"/>
          <p:cNvSpPr/>
          <p:nvPr/>
        </p:nvSpPr>
        <p:spPr>
          <a:xfrm>
            <a:off x="435769" y="1227720"/>
            <a:ext cx="8272500" cy="72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571" name="Google Shape;571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72" name="Google Shape;572;p5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86313" y="1685366"/>
            <a:ext cx="3921919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73" name="Google Shape;573;p5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5769" y="3553457"/>
            <a:ext cx="3921919" cy="485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74" name="Google Shape;574;p5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425678" y="2417601"/>
            <a:ext cx="2643188" cy="53578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75" name="Google Shape;575;p5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283053" y="3239132"/>
            <a:ext cx="428625" cy="428625"/>
          </a:xfrm>
          <a:prstGeom prst="rect">
            <a:avLst/>
          </a:prstGeom>
          <a:noFill/>
          <a:ln>
            <a:noFill/>
          </a:ln>
        </p:spPr>
      </p:pic>
      <p:sp>
        <p:nvSpPr>
          <p:cNvPr id="576" name="Google Shape;576;p50"/>
          <p:cNvSpPr txBox="1"/>
          <p:nvPr/>
        </p:nvSpPr>
        <p:spPr>
          <a:xfrm>
            <a:off x="435769" y="2046126"/>
            <a:ext cx="4118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6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Instant Access</a:t>
            </a:r>
            <a:endParaRPr sz="1100"/>
          </a:p>
        </p:txBody>
      </p:sp>
      <p:sp>
        <p:nvSpPr>
          <p:cNvPr id="577" name="Google Shape;577;p50"/>
          <p:cNvSpPr txBox="1"/>
          <p:nvPr/>
        </p:nvSpPr>
        <p:spPr>
          <a:xfrm>
            <a:off x="435769" y="2431889"/>
            <a:ext cx="3921900" cy="4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A3A3A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How does the computer find scores[100] instantly?</a:t>
            </a:r>
            <a:endParaRPr sz="1100"/>
          </a:p>
        </p:txBody>
      </p:sp>
      <p:sp>
        <p:nvSpPr>
          <p:cNvPr id="578" name="Google Shape;578;p50"/>
          <p:cNvSpPr txBox="1"/>
          <p:nvPr/>
        </p:nvSpPr>
        <p:spPr>
          <a:xfrm>
            <a:off x="435769" y="3039107"/>
            <a:ext cx="39219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A3A3A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It doesn't "search". It calculates.</a:t>
            </a:r>
            <a:endParaRPr sz="1100"/>
          </a:p>
        </p:txBody>
      </p:sp>
      <p:sp>
        <p:nvSpPr>
          <p:cNvPr id="579" name="Google Shape;579;p50"/>
          <p:cNvSpPr txBox="1"/>
          <p:nvPr/>
        </p:nvSpPr>
        <p:spPr>
          <a:xfrm>
            <a:off x="5582851" y="2574775"/>
            <a:ext cx="572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FFC66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0x100</a:t>
            </a:r>
            <a:endParaRPr sz="1100"/>
          </a:p>
        </p:txBody>
      </p:sp>
      <p:sp>
        <p:nvSpPr>
          <p:cNvPr id="580" name="Google Shape;580;p50"/>
          <p:cNvSpPr txBox="1"/>
          <p:nvPr/>
        </p:nvSpPr>
        <p:spPr>
          <a:xfrm>
            <a:off x="6190059" y="2574764"/>
            <a:ext cx="100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66666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+</a:t>
            </a:r>
            <a:endParaRPr sz="1100"/>
          </a:p>
        </p:txBody>
      </p:sp>
      <p:sp>
        <p:nvSpPr>
          <p:cNvPr id="581" name="Google Shape;581;p50"/>
          <p:cNvSpPr txBox="1"/>
          <p:nvPr/>
        </p:nvSpPr>
        <p:spPr>
          <a:xfrm>
            <a:off x="6397225" y="2574775"/>
            <a:ext cx="781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FF9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(3 * 4)</a:t>
            </a:r>
            <a:endParaRPr sz="1100"/>
          </a:p>
        </p:txBody>
      </p:sp>
      <p:sp>
        <p:nvSpPr>
          <p:cNvPr id="582" name="Google Shape;582;p50"/>
          <p:cNvSpPr txBox="1"/>
          <p:nvPr/>
        </p:nvSpPr>
        <p:spPr>
          <a:xfrm>
            <a:off x="7204472" y="2574764"/>
            <a:ext cx="100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66666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=</a:t>
            </a:r>
            <a:endParaRPr sz="1100"/>
          </a:p>
        </p:txBody>
      </p:sp>
      <p:sp>
        <p:nvSpPr>
          <p:cNvPr id="583" name="Google Shape;583;p50"/>
          <p:cNvSpPr txBox="1"/>
          <p:nvPr/>
        </p:nvSpPr>
        <p:spPr>
          <a:xfrm>
            <a:off x="7411652" y="2574775"/>
            <a:ext cx="604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FFC66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0x10C</a:t>
            </a:r>
            <a:endParaRPr sz="1100"/>
          </a:p>
        </p:txBody>
      </p:sp>
      <p:sp>
        <p:nvSpPr>
          <p:cNvPr id="584" name="Google Shape;584;p50"/>
          <p:cNvSpPr txBox="1"/>
          <p:nvPr/>
        </p:nvSpPr>
        <p:spPr>
          <a:xfrm>
            <a:off x="435769" y="684795"/>
            <a:ext cx="8686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400" u="none" cap="none" strike="noStrike">
                <a:solidFill>
                  <a:srgbClr val="00FF9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ARRAY ACCESS: THE SECRET FORMULA</a:t>
            </a:r>
            <a:endParaRPr sz="1100"/>
          </a:p>
        </p:txBody>
      </p:sp>
      <p:sp>
        <p:nvSpPr>
          <p:cNvPr id="585" name="Google Shape;585;p50"/>
          <p:cNvSpPr/>
          <p:nvPr/>
        </p:nvSpPr>
        <p:spPr>
          <a:xfrm>
            <a:off x="435769" y="1227720"/>
            <a:ext cx="8272500" cy="72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590" name="Google Shape;590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91" name="Google Shape;591;p5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5769" y="1246584"/>
            <a:ext cx="2614613" cy="27503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92" name="Google Shape;592;p5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64694" y="1246584"/>
            <a:ext cx="2614612" cy="27503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93" name="Google Shape;593;p5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093619" y="1246584"/>
            <a:ext cx="2614612" cy="27503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94" name="Google Shape;594;p5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921794" y="4139803"/>
            <a:ext cx="3300413" cy="450056"/>
          </a:xfrm>
          <a:prstGeom prst="rect">
            <a:avLst/>
          </a:prstGeom>
          <a:noFill/>
          <a:ln>
            <a:noFill/>
          </a:ln>
        </p:spPr>
      </p:pic>
      <p:sp>
        <p:nvSpPr>
          <p:cNvPr id="595" name="Google Shape;595;p51"/>
          <p:cNvSpPr txBox="1"/>
          <p:nvPr/>
        </p:nvSpPr>
        <p:spPr>
          <a:xfrm>
            <a:off x="728663" y="2032397"/>
            <a:ext cx="21303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6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No String Type</a:t>
            </a:r>
            <a:endParaRPr sz="1100"/>
          </a:p>
        </p:txBody>
      </p:sp>
      <p:sp>
        <p:nvSpPr>
          <p:cNvPr id="596" name="Google Shape;596;p51"/>
          <p:cNvSpPr txBox="1"/>
          <p:nvPr/>
        </p:nvSpPr>
        <p:spPr>
          <a:xfrm>
            <a:off x="728663" y="2418159"/>
            <a:ext cx="2028900" cy="7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A3A3A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 has no "string". It only has char[] (arrays of characters).</a:t>
            </a:r>
            <a:endParaRPr sz="1100"/>
          </a:p>
        </p:txBody>
      </p:sp>
      <p:sp>
        <p:nvSpPr>
          <p:cNvPr id="597" name="Google Shape;597;p51"/>
          <p:cNvSpPr txBox="1"/>
          <p:nvPr/>
        </p:nvSpPr>
        <p:spPr>
          <a:xfrm>
            <a:off x="3557588" y="2032397"/>
            <a:ext cx="21303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6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The Sentinel (\0)</a:t>
            </a:r>
            <a:endParaRPr sz="1100"/>
          </a:p>
        </p:txBody>
      </p:sp>
      <p:sp>
        <p:nvSpPr>
          <p:cNvPr id="598" name="Google Shape;598;p51"/>
          <p:cNvSpPr txBox="1"/>
          <p:nvPr/>
        </p:nvSpPr>
        <p:spPr>
          <a:xfrm>
            <a:off x="3557588" y="2418159"/>
            <a:ext cx="2028900" cy="98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A3A3A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How does the computer know where the text ends? We put a secret </a:t>
            </a:r>
            <a:r>
              <a:rPr b="1" i="0" lang="en" sz="1100" u="none" cap="none" strike="noStrike">
                <a:solidFill>
                  <a:srgbClr val="A3A3A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 byte</a:t>
            </a:r>
            <a:r>
              <a:rPr b="0" i="0" lang="en" sz="1100" u="none" cap="none" strike="noStrike">
                <a:solidFill>
                  <a:srgbClr val="A3A3A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(NUL) at the end.</a:t>
            </a:r>
            <a:endParaRPr sz="1100"/>
          </a:p>
        </p:txBody>
      </p:sp>
      <p:sp>
        <p:nvSpPr>
          <p:cNvPr id="599" name="Google Shape;599;p51"/>
          <p:cNvSpPr txBox="1"/>
          <p:nvPr/>
        </p:nvSpPr>
        <p:spPr>
          <a:xfrm>
            <a:off x="6386513" y="2032397"/>
            <a:ext cx="21303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6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Buffer Overflow</a:t>
            </a:r>
            <a:endParaRPr sz="1100"/>
          </a:p>
        </p:txBody>
      </p:sp>
      <p:sp>
        <p:nvSpPr>
          <p:cNvPr id="600" name="Google Shape;600;p51"/>
          <p:cNvSpPr txBox="1"/>
          <p:nvPr/>
        </p:nvSpPr>
        <p:spPr>
          <a:xfrm>
            <a:off x="6386513" y="2418159"/>
            <a:ext cx="2028900" cy="125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A3A3A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If you forget the \0, the computer keeps reading memory. This is how hackers steal data (like Heartbleed).</a:t>
            </a:r>
            <a:endParaRPr sz="1100"/>
          </a:p>
        </p:txBody>
      </p:sp>
      <p:sp>
        <p:nvSpPr>
          <p:cNvPr id="601" name="Google Shape;601;p51"/>
          <p:cNvSpPr txBox="1"/>
          <p:nvPr/>
        </p:nvSpPr>
        <p:spPr>
          <a:xfrm>
            <a:off x="5357813" y="4289822"/>
            <a:ext cx="7143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900" u="none" cap="none" strike="noStrike">
                <a:solidFill>
                  <a:srgbClr val="55555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&lt;-- Vital!</a:t>
            </a:r>
            <a:endParaRPr sz="1100"/>
          </a:p>
        </p:txBody>
      </p:sp>
      <p:pic>
        <p:nvPicPr>
          <p:cNvPr descr="image.png" id="602" name="Google Shape;602;p5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28663" y="1568053"/>
            <a:ext cx="257175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03" name="Google Shape;603;p5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557588" y="1568053"/>
            <a:ext cx="2857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04" name="Google Shape;604;p5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386513" y="1568053"/>
            <a:ext cx="2857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605" name="Google Shape;605;p51"/>
          <p:cNvSpPr txBox="1"/>
          <p:nvPr/>
        </p:nvSpPr>
        <p:spPr>
          <a:xfrm>
            <a:off x="435769" y="410765"/>
            <a:ext cx="8686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400" u="none" cap="none" strike="noStrike">
                <a:solidFill>
                  <a:srgbClr val="00FF9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STRINGS: THE ILLUSION</a:t>
            </a:r>
            <a:endParaRPr sz="1100"/>
          </a:p>
        </p:txBody>
      </p:sp>
      <p:sp>
        <p:nvSpPr>
          <p:cNvPr id="606" name="Google Shape;606;p51"/>
          <p:cNvSpPr/>
          <p:nvPr/>
        </p:nvSpPr>
        <p:spPr>
          <a:xfrm>
            <a:off x="435769" y="953690"/>
            <a:ext cx="8272500" cy="72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611" name="Google Shape;611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12" name="Google Shape;612;p5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5769" y="1685366"/>
            <a:ext cx="3921919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13" name="Google Shape;613;p5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86313" y="2785504"/>
            <a:ext cx="3921919" cy="9001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14" name="Google Shape;614;p5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25090" y="2971241"/>
            <a:ext cx="5715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15" name="Google Shape;615;p5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282303" y="2971241"/>
            <a:ext cx="5715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16" name="Google Shape;616;p5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839515" y="2971241"/>
            <a:ext cx="5715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17" name="Google Shape;617;p5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396728" y="2971241"/>
            <a:ext cx="5715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18" name="Google Shape;618;p5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2953940" y="2971241"/>
            <a:ext cx="5715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19" name="Google Shape;619;p5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3511153" y="2971241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620" name="Google Shape;620;p52"/>
          <p:cNvSpPr txBox="1"/>
          <p:nvPr/>
        </p:nvSpPr>
        <p:spPr>
          <a:xfrm>
            <a:off x="4786313" y="1799666"/>
            <a:ext cx="4118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6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How `strlen()` works</a:t>
            </a:r>
            <a:endParaRPr sz="1100"/>
          </a:p>
        </p:txBody>
      </p:sp>
      <p:sp>
        <p:nvSpPr>
          <p:cNvPr id="621" name="Google Shape;621;p52"/>
          <p:cNvSpPr txBox="1"/>
          <p:nvPr/>
        </p:nvSpPr>
        <p:spPr>
          <a:xfrm>
            <a:off x="4786313" y="2185429"/>
            <a:ext cx="3921900" cy="4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A3A3A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The computer doesn't know the length. It has to count.</a:t>
            </a:r>
            <a:endParaRPr sz="1100"/>
          </a:p>
        </p:txBody>
      </p:sp>
      <p:sp>
        <p:nvSpPr>
          <p:cNvPr id="622" name="Google Shape;622;p52"/>
          <p:cNvSpPr txBox="1"/>
          <p:nvPr/>
        </p:nvSpPr>
        <p:spPr>
          <a:xfrm>
            <a:off x="4786313" y="3828491"/>
            <a:ext cx="3921900" cy="4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A3A3A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This is why string operations can be slow if you aren't careful.</a:t>
            </a:r>
            <a:endParaRPr sz="1100"/>
          </a:p>
        </p:txBody>
      </p:sp>
      <p:sp>
        <p:nvSpPr>
          <p:cNvPr id="623" name="Google Shape;623;p52"/>
          <p:cNvSpPr txBox="1"/>
          <p:nvPr/>
        </p:nvSpPr>
        <p:spPr>
          <a:xfrm>
            <a:off x="435769" y="684795"/>
            <a:ext cx="8686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400" u="none" cap="none" strike="noStrike">
                <a:solidFill>
                  <a:srgbClr val="00FF9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STRING OPS: WALKING MEMORY</a:t>
            </a:r>
            <a:endParaRPr sz="1100"/>
          </a:p>
        </p:txBody>
      </p:sp>
      <p:sp>
        <p:nvSpPr>
          <p:cNvPr id="624" name="Google Shape;624;p52"/>
          <p:cNvSpPr/>
          <p:nvPr/>
        </p:nvSpPr>
        <p:spPr>
          <a:xfrm>
            <a:off x="435769" y="1227720"/>
            <a:ext cx="8272500" cy="72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629" name="Google Shape;629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30" name="Google Shape;630;p5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62993" y="1498736"/>
            <a:ext cx="6617902" cy="2145915"/>
          </a:xfrm>
          <a:prstGeom prst="rect">
            <a:avLst/>
          </a:prstGeom>
          <a:noFill/>
          <a:ln>
            <a:noFill/>
          </a:ln>
        </p:spPr>
      </p:pic>
      <p:sp>
        <p:nvSpPr>
          <p:cNvPr id="631" name="Google Shape;631;p53"/>
          <p:cNvSpPr txBox="1"/>
          <p:nvPr/>
        </p:nvSpPr>
        <p:spPr>
          <a:xfrm>
            <a:off x="1563030" y="2370274"/>
            <a:ext cx="6018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LET'S WRITE CODE</a:t>
            </a:r>
            <a:endParaRPr sz="1100"/>
          </a:p>
        </p:txBody>
      </p:sp>
      <p:sp>
        <p:nvSpPr>
          <p:cNvPr id="632" name="Google Shape;632;p53"/>
          <p:cNvSpPr txBox="1"/>
          <p:nvPr/>
        </p:nvSpPr>
        <p:spPr>
          <a:xfrm>
            <a:off x="1563030" y="2706030"/>
            <a:ext cx="60180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AAAAA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Re-create the function `int my_strlen(string s)`.</a:t>
            </a:r>
            <a:endParaRPr sz="1100"/>
          </a:p>
        </p:txBody>
      </p:sp>
      <p:sp>
        <p:nvSpPr>
          <p:cNvPr id="633" name="Google Shape;633;p53"/>
          <p:cNvSpPr txBox="1"/>
          <p:nvPr/>
        </p:nvSpPr>
        <p:spPr>
          <a:xfrm>
            <a:off x="1563030" y="3040335"/>
            <a:ext cx="60180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AAAAA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Hint: Use a loop and stop when you hit \0.</a:t>
            </a:r>
            <a:endParaRPr sz="1100"/>
          </a:p>
        </p:txBody>
      </p:sp>
      <p:pic>
        <p:nvPicPr>
          <p:cNvPr descr="image.png" id="634" name="Google Shape;634;p5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29063" y="1821310"/>
            <a:ext cx="485775" cy="428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639" name="Google Shape;639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40" name="Google Shape;640;p5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5769" y="2549760"/>
            <a:ext cx="8272462" cy="1350168"/>
          </a:xfrm>
          <a:prstGeom prst="rect">
            <a:avLst/>
          </a:prstGeom>
          <a:noFill/>
          <a:ln>
            <a:noFill/>
          </a:ln>
        </p:spPr>
      </p:pic>
      <p:sp>
        <p:nvSpPr>
          <p:cNvPr id="641" name="Google Shape;641;p54"/>
          <p:cNvSpPr/>
          <p:nvPr/>
        </p:nvSpPr>
        <p:spPr>
          <a:xfrm>
            <a:off x="435769" y="2185429"/>
            <a:ext cx="8272500" cy="221400"/>
          </a:xfrm>
          <a:prstGeom prst="roundRect">
            <a:avLst>
              <a:gd fmla="val 12903" name="adj"/>
            </a:avLst>
          </a:prstGeom>
          <a:solidFill>
            <a:srgbClr val="00FF9D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2" name="Google Shape;642;p54"/>
          <p:cNvSpPr txBox="1"/>
          <p:nvPr/>
        </p:nvSpPr>
        <p:spPr>
          <a:xfrm>
            <a:off x="542925" y="2221148"/>
            <a:ext cx="80583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MY_STRLEN</a:t>
            </a:r>
            <a:endParaRPr sz="1100"/>
          </a:p>
        </p:txBody>
      </p:sp>
      <p:sp>
        <p:nvSpPr>
          <p:cNvPr id="643" name="Google Shape;643;p54"/>
          <p:cNvSpPr txBox="1"/>
          <p:nvPr/>
        </p:nvSpPr>
        <p:spPr>
          <a:xfrm>
            <a:off x="585788" y="2699779"/>
            <a:ext cx="2145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FFC66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int</a:t>
            </a:r>
            <a:endParaRPr sz="1100"/>
          </a:p>
        </p:txBody>
      </p:sp>
      <p:sp>
        <p:nvSpPr>
          <p:cNvPr id="644" name="Google Shape;644;p54"/>
          <p:cNvSpPr txBox="1"/>
          <p:nvPr/>
        </p:nvSpPr>
        <p:spPr>
          <a:xfrm>
            <a:off x="1585913" y="2699779"/>
            <a:ext cx="285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FFC66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char</a:t>
            </a:r>
            <a:endParaRPr sz="1100"/>
          </a:p>
        </p:txBody>
      </p:sp>
      <p:sp>
        <p:nvSpPr>
          <p:cNvPr id="645" name="Google Shape;645;p54"/>
          <p:cNvSpPr txBox="1"/>
          <p:nvPr/>
        </p:nvSpPr>
        <p:spPr>
          <a:xfrm>
            <a:off x="728663" y="2849798"/>
            <a:ext cx="2145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FFC66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int</a:t>
            </a:r>
            <a:endParaRPr sz="1100"/>
          </a:p>
        </p:txBody>
      </p:sp>
      <p:sp>
        <p:nvSpPr>
          <p:cNvPr id="646" name="Google Shape;646;p54"/>
          <p:cNvSpPr txBox="1"/>
          <p:nvPr/>
        </p:nvSpPr>
        <p:spPr>
          <a:xfrm>
            <a:off x="728663" y="2999816"/>
            <a:ext cx="3573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CC783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while</a:t>
            </a:r>
            <a:endParaRPr sz="1100"/>
          </a:p>
        </p:txBody>
      </p:sp>
      <p:sp>
        <p:nvSpPr>
          <p:cNvPr id="647" name="Google Shape;647;p54"/>
          <p:cNvSpPr txBox="1"/>
          <p:nvPr/>
        </p:nvSpPr>
        <p:spPr>
          <a:xfrm>
            <a:off x="2085975" y="2999816"/>
            <a:ext cx="285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6A87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'\0'</a:t>
            </a:r>
            <a:endParaRPr sz="1100"/>
          </a:p>
        </p:txBody>
      </p:sp>
      <p:sp>
        <p:nvSpPr>
          <p:cNvPr id="648" name="Google Shape;648;p54"/>
          <p:cNvSpPr txBox="1"/>
          <p:nvPr/>
        </p:nvSpPr>
        <p:spPr>
          <a:xfrm>
            <a:off x="728663" y="3449873"/>
            <a:ext cx="4287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CC783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return</a:t>
            </a:r>
            <a:endParaRPr sz="1100"/>
          </a:p>
        </p:txBody>
      </p:sp>
      <p:sp>
        <p:nvSpPr>
          <p:cNvPr id="649" name="Google Shape;649;p54"/>
          <p:cNvSpPr txBox="1"/>
          <p:nvPr/>
        </p:nvSpPr>
        <p:spPr>
          <a:xfrm>
            <a:off x="435769" y="684795"/>
            <a:ext cx="8686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400" u="none" cap="none" strike="noStrike">
                <a:solidFill>
                  <a:srgbClr val="00FF9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THE SOLUTION</a:t>
            </a:r>
            <a:endParaRPr sz="1100"/>
          </a:p>
        </p:txBody>
      </p:sp>
      <p:sp>
        <p:nvSpPr>
          <p:cNvPr id="650" name="Google Shape;650;p54"/>
          <p:cNvSpPr/>
          <p:nvPr/>
        </p:nvSpPr>
        <p:spPr>
          <a:xfrm>
            <a:off x="435769" y="1227720"/>
            <a:ext cx="8272500" cy="72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654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655" name="Google Shape;655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56" name="Google Shape;656;p5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86313" y="1685366"/>
            <a:ext cx="3921919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57" name="Google Shape;657;p5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5769" y="3017676"/>
            <a:ext cx="3921919" cy="4500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58" name="Google Shape;658;p5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618559" y="2960526"/>
            <a:ext cx="800100" cy="30718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59" name="Google Shape;659;p5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25815" y="2960526"/>
            <a:ext cx="657225" cy="30718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60" name="Google Shape;660;p5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290197" y="2960526"/>
            <a:ext cx="585788" cy="307181"/>
          </a:xfrm>
          <a:prstGeom prst="rect">
            <a:avLst/>
          </a:prstGeom>
          <a:noFill/>
          <a:ln>
            <a:noFill/>
          </a:ln>
        </p:spPr>
      </p:pic>
      <p:sp>
        <p:nvSpPr>
          <p:cNvPr id="661" name="Google Shape;661;p55"/>
          <p:cNvSpPr txBox="1"/>
          <p:nvPr/>
        </p:nvSpPr>
        <p:spPr>
          <a:xfrm>
            <a:off x="435769" y="2031839"/>
            <a:ext cx="4118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What are they?</a:t>
            </a:r>
            <a:endParaRPr sz="1100"/>
          </a:p>
        </p:txBody>
      </p:sp>
      <p:sp>
        <p:nvSpPr>
          <p:cNvPr id="662" name="Google Shape;662;p55"/>
          <p:cNvSpPr txBox="1"/>
          <p:nvPr/>
        </p:nvSpPr>
        <p:spPr>
          <a:xfrm>
            <a:off x="435769" y="2417601"/>
            <a:ext cx="3921900" cy="4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A3A3A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You can pass data to your program </a:t>
            </a:r>
            <a:r>
              <a:rPr b="0" i="1" lang="en" sz="1100" u="none" cap="none" strike="noStrike">
                <a:solidFill>
                  <a:srgbClr val="A3A3A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before</a:t>
            </a:r>
            <a:r>
              <a:rPr b="0" i="0" lang="en" sz="1100" u="none" cap="none" strike="noStrike">
                <a:solidFill>
                  <a:srgbClr val="A3A3A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it runs.</a:t>
            </a:r>
            <a:endParaRPr sz="1100"/>
          </a:p>
        </p:txBody>
      </p:sp>
      <p:sp>
        <p:nvSpPr>
          <p:cNvPr id="663" name="Google Shape;663;p55"/>
          <p:cNvSpPr txBox="1"/>
          <p:nvPr/>
        </p:nvSpPr>
        <p:spPr>
          <a:xfrm>
            <a:off x="635794" y="3610607"/>
            <a:ext cx="858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A3A3A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•</a:t>
            </a:r>
            <a:endParaRPr sz="1100"/>
          </a:p>
        </p:txBody>
      </p:sp>
      <p:sp>
        <p:nvSpPr>
          <p:cNvPr id="664" name="Google Shape;664;p55"/>
          <p:cNvSpPr txBox="1"/>
          <p:nvPr/>
        </p:nvSpPr>
        <p:spPr>
          <a:xfrm>
            <a:off x="721519" y="3610607"/>
            <a:ext cx="36363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572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A3A3A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argc: Argument Count (How many?)</a:t>
            </a:r>
            <a:endParaRPr sz="1100"/>
          </a:p>
        </p:txBody>
      </p:sp>
      <p:sp>
        <p:nvSpPr>
          <p:cNvPr id="665" name="Google Shape;665;p55"/>
          <p:cNvSpPr txBox="1"/>
          <p:nvPr/>
        </p:nvSpPr>
        <p:spPr>
          <a:xfrm>
            <a:off x="635794" y="3846351"/>
            <a:ext cx="858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A3A3A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•</a:t>
            </a:r>
            <a:endParaRPr sz="1100"/>
          </a:p>
        </p:txBody>
      </p:sp>
      <p:sp>
        <p:nvSpPr>
          <p:cNvPr id="666" name="Google Shape;666;p55"/>
          <p:cNvSpPr txBox="1"/>
          <p:nvPr/>
        </p:nvSpPr>
        <p:spPr>
          <a:xfrm>
            <a:off x="721519" y="3846351"/>
            <a:ext cx="36363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572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A3A3A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argv: Argument Vector (The words)</a:t>
            </a:r>
            <a:endParaRPr sz="1100"/>
          </a:p>
        </p:txBody>
      </p:sp>
      <p:sp>
        <p:nvSpPr>
          <p:cNvPr id="667" name="Google Shape;667;p55"/>
          <p:cNvSpPr txBox="1"/>
          <p:nvPr/>
        </p:nvSpPr>
        <p:spPr>
          <a:xfrm>
            <a:off x="6211490" y="2596195"/>
            <a:ext cx="1071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AAAAA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$ ./hello David</a:t>
            </a:r>
            <a:endParaRPr sz="1100"/>
          </a:p>
        </p:txBody>
      </p:sp>
      <p:sp>
        <p:nvSpPr>
          <p:cNvPr id="668" name="Google Shape;668;p55"/>
          <p:cNvSpPr txBox="1"/>
          <p:nvPr/>
        </p:nvSpPr>
        <p:spPr>
          <a:xfrm>
            <a:off x="6461522" y="3482020"/>
            <a:ext cx="5715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00FF9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argc = 2</a:t>
            </a:r>
            <a:endParaRPr sz="1100"/>
          </a:p>
        </p:txBody>
      </p:sp>
      <p:sp>
        <p:nvSpPr>
          <p:cNvPr id="669" name="Google Shape;669;p55"/>
          <p:cNvSpPr txBox="1"/>
          <p:nvPr/>
        </p:nvSpPr>
        <p:spPr>
          <a:xfrm>
            <a:off x="5990034" y="2789076"/>
            <a:ext cx="570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66666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</a:t>
            </a:r>
            <a:endParaRPr sz="1100"/>
          </a:p>
        </p:txBody>
      </p:sp>
      <p:sp>
        <p:nvSpPr>
          <p:cNvPr id="670" name="Google Shape;670;p55"/>
          <p:cNvSpPr txBox="1"/>
          <p:nvPr/>
        </p:nvSpPr>
        <p:spPr>
          <a:xfrm>
            <a:off x="6825853" y="2789076"/>
            <a:ext cx="570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66666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</a:t>
            </a:r>
            <a:endParaRPr sz="1100"/>
          </a:p>
        </p:txBody>
      </p:sp>
      <p:sp>
        <p:nvSpPr>
          <p:cNvPr id="671" name="Google Shape;671;p55"/>
          <p:cNvSpPr txBox="1"/>
          <p:nvPr/>
        </p:nvSpPr>
        <p:spPr>
          <a:xfrm>
            <a:off x="7554515" y="2789076"/>
            <a:ext cx="570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66666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</a:t>
            </a:r>
            <a:endParaRPr sz="1100"/>
          </a:p>
        </p:txBody>
      </p:sp>
      <p:sp>
        <p:nvSpPr>
          <p:cNvPr id="672" name="Google Shape;672;p55"/>
          <p:cNvSpPr txBox="1"/>
          <p:nvPr/>
        </p:nvSpPr>
        <p:spPr>
          <a:xfrm>
            <a:off x="435769" y="684795"/>
            <a:ext cx="8686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400" u="none" cap="none" strike="noStrike">
                <a:solidFill>
                  <a:srgbClr val="00FF9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COMMAND LINE ARGUMENTS</a:t>
            </a:r>
            <a:endParaRPr sz="1100"/>
          </a:p>
        </p:txBody>
      </p:sp>
      <p:sp>
        <p:nvSpPr>
          <p:cNvPr id="673" name="Google Shape;673;p55"/>
          <p:cNvSpPr/>
          <p:nvPr/>
        </p:nvSpPr>
        <p:spPr>
          <a:xfrm>
            <a:off x="435769" y="1227720"/>
            <a:ext cx="8272500" cy="72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678" name="Google Shape;678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79" name="Google Shape;679;p5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86313" y="1685478"/>
            <a:ext cx="3921919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80" name="Google Shape;680;p5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5769" y="3742878"/>
            <a:ext cx="3921919" cy="9001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81" name="Google Shape;681;p5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618559" y="2960638"/>
            <a:ext cx="800100" cy="30718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82" name="Google Shape;682;p5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25815" y="2960638"/>
            <a:ext cx="657225" cy="30718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83" name="Google Shape;683;p5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290197" y="2960638"/>
            <a:ext cx="585788" cy="307181"/>
          </a:xfrm>
          <a:prstGeom prst="rect">
            <a:avLst/>
          </a:prstGeom>
          <a:noFill/>
          <a:ln>
            <a:noFill/>
          </a:ln>
        </p:spPr>
      </p:pic>
      <p:sp>
        <p:nvSpPr>
          <p:cNvPr id="684" name="Google Shape;684;p56"/>
          <p:cNvSpPr txBox="1"/>
          <p:nvPr/>
        </p:nvSpPr>
        <p:spPr>
          <a:xfrm>
            <a:off x="435769" y="1442591"/>
            <a:ext cx="4118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6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Talking to Main</a:t>
            </a:r>
            <a:endParaRPr sz="1100"/>
          </a:p>
        </p:txBody>
      </p:sp>
      <p:sp>
        <p:nvSpPr>
          <p:cNvPr id="685" name="Google Shape;685;p56"/>
          <p:cNvSpPr txBox="1"/>
          <p:nvPr/>
        </p:nvSpPr>
        <p:spPr>
          <a:xfrm>
            <a:off x="435769" y="1828353"/>
            <a:ext cx="3921900" cy="7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A3A3A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You can pass data to your program </a:t>
            </a:r>
            <a:r>
              <a:rPr b="0" i="1" lang="en" sz="1100" u="none" cap="none" strike="noStrike">
                <a:solidFill>
                  <a:srgbClr val="A3A3A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before</a:t>
            </a:r>
            <a:r>
              <a:rPr b="0" i="0" lang="en" sz="1100" u="none" cap="none" strike="noStrike">
                <a:solidFill>
                  <a:srgbClr val="A3A3A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it runs. argv is an array of strings sent by the shell.</a:t>
            </a:r>
            <a:endParaRPr sz="1100"/>
          </a:p>
        </p:txBody>
      </p:sp>
      <p:sp>
        <p:nvSpPr>
          <p:cNvPr id="686" name="Google Shape;686;p56"/>
          <p:cNvSpPr txBox="1"/>
          <p:nvPr/>
        </p:nvSpPr>
        <p:spPr>
          <a:xfrm>
            <a:off x="635794" y="2664172"/>
            <a:ext cx="858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A3A3A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•</a:t>
            </a:r>
            <a:endParaRPr sz="1100"/>
          </a:p>
        </p:txBody>
      </p:sp>
      <p:sp>
        <p:nvSpPr>
          <p:cNvPr id="687" name="Google Shape;687;p56"/>
          <p:cNvSpPr txBox="1"/>
          <p:nvPr/>
        </p:nvSpPr>
        <p:spPr>
          <a:xfrm>
            <a:off x="721519" y="2664172"/>
            <a:ext cx="36363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572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00FF9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argv[0]</a:t>
            </a:r>
            <a:r>
              <a:rPr b="0" i="0" lang="en" sz="1100" u="none" cap="none" strike="noStrike">
                <a:solidFill>
                  <a:srgbClr val="A3A3A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 The program name (e.g.</a:t>
            </a:r>
            <a:r>
              <a:rPr lang="en" sz="1100">
                <a:solidFill>
                  <a:srgbClr val="A3A3A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b="0" i="0" lang="en" sz="1100" u="none" cap="none" strike="noStrike">
                <a:solidFill>
                  <a:srgbClr val="A3A3A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./hello).</a:t>
            </a:r>
            <a:endParaRPr sz="1100"/>
          </a:p>
        </p:txBody>
      </p:sp>
      <p:sp>
        <p:nvSpPr>
          <p:cNvPr id="688" name="Google Shape;688;p56"/>
          <p:cNvSpPr txBox="1"/>
          <p:nvPr/>
        </p:nvSpPr>
        <p:spPr>
          <a:xfrm>
            <a:off x="635794" y="2899916"/>
            <a:ext cx="858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A3A3A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•</a:t>
            </a:r>
            <a:endParaRPr sz="1100"/>
          </a:p>
        </p:txBody>
      </p:sp>
      <p:sp>
        <p:nvSpPr>
          <p:cNvPr id="689" name="Google Shape;689;p56"/>
          <p:cNvSpPr txBox="1"/>
          <p:nvPr/>
        </p:nvSpPr>
        <p:spPr>
          <a:xfrm>
            <a:off x="721519" y="2899916"/>
            <a:ext cx="3636300" cy="4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572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argv[1]</a:t>
            </a:r>
            <a:r>
              <a:rPr b="0" i="0" lang="en" sz="1100" u="none" cap="none" strike="noStrike">
                <a:solidFill>
                  <a:srgbClr val="A3A3A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 The first word typed after the command (e.g., David).</a:t>
            </a:r>
            <a:endParaRPr sz="1100"/>
          </a:p>
        </p:txBody>
      </p:sp>
      <p:sp>
        <p:nvSpPr>
          <p:cNvPr id="690" name="Google Shape;690;p56"/>
          <p:cNvSpPr txBox="1"/>
          <p:nvPr/>
        </p:nvSpPr>
        <p:spPr>
          <a:xfrm>
            <a:off x="635794" y="3364259"/>
            <a:ext cx="858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A3A3A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•</a:t>
            </a:r>
            <a:endParaRPr sz="1100"/>
          </a:p>
        </p:txBody>
      </p:sp>
      <p:sp>
        <p:nvSpPr>
          <p:cNvPr id="691" name="Google Shape;691;p56"/>
          <p:cNvSpPr txBox="1"/>
          <p:nvPr/>
        </p:nvSpPr>
        <p:spPr>
          <a:xfrm>
            <a:off x="721519" y="3364259"/>
            <a:ext cx="36363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572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FF005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argv[argc]</a:t>
            </a:r>
            <a:r>
              <a:rPr b="0" i="0" lang="en" sz="1100" u="none" cap="none" strike="noStrike">
                <a:solidFill>
                  <a:srgbClr val="A3A3A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 Always NULL (End of list).</a:t>
            </a:r>
            <a:endParaRPr sz="1100"/>
          </a:p>
        </p:txBody>
      </p:sp>
      <p:sp>
        <p:nvSpPr>
          <p:cNvPr id="692" name="Google Shape;692;p56"/>
          <p:cNvSpPr txBox="1"/>
          <p:nvPr/>
        </p:nvSpPr>
        <p:spPr>
          <a:xfrm>
            <a:off x="585788" y="3892897"/>
            <a:ext cx="200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900" u="none" cap="none" strike="noStrike">
                <a:solidFill>
                  <a:srgbClr val="55555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Check if user gave a name</a:t>
            </a:r>
            <a:endParaRPr sz="1100"/>
          </a:p>
        </p:txBody>
      </p:sp>
      <p:sp>
        <p:nvSpPr>
          <p:cNvPr id="693" name="Google Shape;693;p56"/>
          <p:cNvSpPr txBox="1"/>
          <p:nvPr/>
        </p:nvSpPr>
        <p:spPr>
          <a:xfrm>
            <a:off x="6211490" y="2596307"/>
            <a:ext cx="1071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AAAAA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$ ./hello David</a:t>
            </a:r>
            <a:endParaRPr sz="1100"/>
          </a:p>
        </p:txBody>
      </p:sp>
      <p:sp>
        <p:nvSpPr>
          <p:cNvPr id="694" name="Google Shape;694;p56"/>
          <p:cNvSpPr txBox="1"/>
          <p:nvPr/>
        </p:nvSpPr>
        <p:spPr>
          <a:xfrm>
            <a:off x="6461522" y="3482132"/>
            <a:ext cx="5715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00FF9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argc = 2</a:t>
            </a:r>
            <a:endParaRPr sz="1100"/>
          </a:p>
        </p:txBody>
      </p:sp>
      <p:sp>
        <p:nvSpPr>
          <p:cNvPr id="695" name="Google Shape;695;p56"/>
          <p:cNvSpPr txBox="1"/>
          <p:nvPr/>
        </p:nvSpPr>
        <p:spPr>
          <a:xfrm>
            <a:off x="5990034" y="2789188"/>
            <a:ext cx="570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66666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</a:t>
            </a:r>
            <a:endParaRPr sz="1100"/>
          </a:p>
        </p:txBody>
      </p:sp>
      <p:sp>
        <p:nvSpPr>
          <p:cNvPr id="696" name="Google Shape;696;p56"/>
          <p:cNvSpPr txBox="1"/>
          <p:nvPr/>
        </p:nvSpPr>
        <p:spPr>
          <a:xfrm>
            <a:off x="6825853" y="2789188"/>
            <a:ext cx="570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66666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</a:t>
            </a:r>
            <a:endParaRPr sz="1100"/>
          </a:p>
        </p:txBody>
      </p:sp>
      <p:sp>
        <p:nvSpPr>
          <p:cNvPr id="697" name="Google Shape;697;p56"/>
          <p:cNvSpPr txBox="1"/>
          <p:nvPr/>
        </p:nvSpPr>
        <p:spPr>
          <a:xfrm>
            <a:off x="7554515" y="2789188"/>
            <a:ext cx="570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66666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</a:t>
            </a:r>
            <a:endParaRPr sz="1100"/>
          </a:p>
        </p:txBody>
      </p:sp>
      <p:sp>
        <p:nvSpPr>
          <p:cNvPr id="698" name="Google Shape;698;p56"/>
          <p:cNvSpPr txBox="1"/>
          <p:nvPr/>
        </p:nvSpPr>
        <p:spPr>
          <a:xfrm>
            <a:off x="435769" y="606772"/>
            <a:ext cx="8686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400" u="none" cap="none" strike="noStrike">
                <a:solidFill>
                  <a:srgbClr val="00FF9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COMMAND LINE ARGUMENTS</a:t>
            </a:r>
            <a:endParaRPr sz="1100"/>
          </a:p>
        </p:txBody>
      </p:sp>
      <p:sp>
        <p:nvSpPr>
          <p:cNvPr id="699" name="Google Shape;699;p56"/>
          <p:cNvSpPr/>
          <p:nvPr/>
        </p:nvSpPr>
        <p:spPr>
          <a:xfrm>
            <a:off x="435769" y="1149697"/>
            <a:ext cx="8272500" cy="72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703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704" name="Google Shape;704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05" name="Google Shape;705;p5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62993" y="1498736"/>
            <a:ext cx="6617902" cy="2145915"/>
          </a:xfrm>
          <a:prstGeom prst="rect">
            <a:avLst/>
          </a:prstGeom>
          <a:noFill/>
          <a:ln>
            <a:noFill/>
          </a:ln>
        </p:spPr>
      </p:pic>
      <p:sp>
        <p:nvSpPr>
          <p:cNvPr id="706" name="Google Shape;706;p57"/>
          <p:cNvSpPr txBox="1"/>
          <p:nvPr/>
        </p:nvSpPr>
        <p:spPr>
          <a:xfrm>
            <a:off x="1563030" y="2370274"/>
            <a:ext cx="6018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LET'S WRITE CODE</a:t>
            </a:r>
            <a:endParaRPr sz="1100"/>
          </a:p>
        </p:txBody>
      </p:sp>
      <p:sp>
        <p:nvSpPr>
          <p:cNvPr id="707" name="Google Shape;707;p57"/>
          <p:cNvSpPr txBox="1"/>
          <p:nvPr/>
        </p:nvSpPr>
        <p:spPr>
          <a:xfrm>
            <a:off x="1563030" y="2706030"/>
            <a:ext cx="60180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AAAAA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Add functionality to existing program to accept command line arg inputs</a:t>
            </a:r>
            <a:endParaRPr sz="1100"/>
          </a:p>
        </p:txBody>
      </p:sp>
      <p:sp>
        <p:nvSpPr>
          <p:cNvPr id="708" name="Google Shape;708;p57"/>
          <p:cNvSpPr txBox="1"/>
          <p:nvPr/>
        </p:nvSpPr>
        <p:spPr>
          <a:xfrm>
            <a:off x="1563030" y="3040335"/>
            <a:ext cx="60180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AAAAA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Hint: Use </a:t>
            </a:r>
            <a:r>
              <a:rPr lang="en" sz="900">
                <a:solidFill>
                  <a:srgbClr val="AAAAA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argv with right index to get the name</a:t>
            </a:r>
            <a:r>
              <a:rPr b="0" i="0" lang="en" sz="900" u="none" cap="none" strike="noStrike">
                <a:solidFill>
                  <a:srgbClr val="AAAAA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</a:t>
            </a:r>
            <a:endParaRPr sz="1100"/>
          </a:p>
        </p:txBody>
      </p:sp>
      <p:pic>
        <p:nvPicPr>
          <p:cNvPr descr="image.png" id="709" name="Google Shape;709;p5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29063" y="1821310"/>
            <a:ext cx="485775" cy="428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714" name="Google Shape;714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15" name="Google Shape;715;p5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5769" y="2249723"/>
            <a:ext cx="8272462" cy="1950244"/>
          </a:xfrm>
          <a:prstGeom prst="rect">
            <a:avLst/>
          </a:prstGeom>
          <a:noFill/>
          <a:ln>
            <a:noFill/>
          </a:ln>
        </p:spPr>
      </p:pic>
      <p:sp>
        <p:nvSpPr>
          <p:cNvPr id="716" name="Google Shape;716;p58"/>
          <p:cNvSpPr/>
          <p:nvPr/>
        </p:nvSpPr>
        <p:spPr>
          <a:xfrm>
            <a:off x="435769" y="1885391"/>
            <a:ext cx="8272500" cy="221400"/>
          </a:xfrm>
          <a:prstGeom prst="roundRect">
            <a:avLst>
              <a:gd fmla="val 12903" name="adj"/>
            </a:avLst>
          </a:prstGeom>
          <a:solidFill>
            <a:srgbClr val="00FF9D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7" name="Google Shape;717;p58"/>
          <p:cNvSpPr txBox="1"/>
          <p:nvPr/>
        </p:nvSpPr>
        <p:spPr>
          <a:xfrm>
            <a:off x="542925" y="1921110"/>
            <a:ext cx="80583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CLI_STRLEN.C</a:t>
            </a:r>
            <a:endParaRPr sz="1100"/>
          </a:p>
        </p:txBody>
      </p:sp>
      <p:sp>
        <p:nvSpPr>
          <p:cNvPr id="718" name="Google Shape;718;p58"/>
          <p:cNvSpPr txBox="1"/>
          <p:nvPr/>
        </p:nvSpPr>
        <p:spPr>
          <a:xfrm>
            <a:off x="585788" y="2399741"/>
            <a:ext cx="2145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FFC66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int</a:t>
            </a:r>
            <a:endParaRPr sz="1100"/>
          </a:p>
        </p:txBody>
      </p:sp>
      <p:sp>
        <p:nvSpPr>
          <p:cNvPr id="719" name="Google Shape;719;p58"/>
          <p:cNvSpPr txBox="1"/>
          <p:nvPr/>
        </p:nvSpPr>
        <p:spPr>
          <a:xfrm>
            <a:off x="1228725" y="2399741"/>
            <a:ext cx="2145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FFC66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int</a:t>
            </a:r>
            <a:endParaRPr sz="1100"/>
          </a:p>
        </p:txBody>
      </p:sp>
      <p:sp>
        <p:nvSpPr>
          <p:cNvPr id="720" name="Google Shape;720;p58"/>
          <p:cNvSpPr txBox="1"/>
          <p:nvPr/>
        </p:nvSpPr>
        <p:spPr>
          <a:xfrm>
            <a:off x="1943100" y="2399741"/>
            <a:ext cx="4287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FFC66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string</a:t>
            </a:r>
            <a:endParaRPr sz="1100"/>
          </a:p>
        </p:txBody>
      </p:sp>
      <p:sp>
        <p:nvSpPr>
          <p:cNvPr id="721" name="Google Shape;721;p58"/>
          <p:cNvSpPr txBox="1"/>
          <p:nvPr/>
        </p:nvSpPr>
        <p:spPr>
          <a:xfrm>
            <a:off x="728663" y="2549760"/>
            <a:ext cx="1428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900" u="none" cap="none" strike="noStrike">
                <a:solidFill>
                  <a:srgbClr val="55555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1. Validate Input</a:t>
            </a:r>
            <a:endParaRPr sz="1100"/>
          </a:p>
        </p:txBody>
      </p:sp>
      <p:sp>
        <p:nvSpPr>
          <p:cNvPr id="722" name="Google Shape;722;p58"/>
          <p:cNvSpPr txBox="1"/>
          <p:nvPr/>
        </p:nvSpPr>
        <p:spPr>
          <a:xfrm>
            <a:off x="728663" y="2699779"/>
            <a:ext cx="1428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CC783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if</a:t>
            </a:r>
            <a:endParaRPr sz="1100"/>
          </a:p>
        </p:txBody>
      </p:sp>
      <p:sp>
        <p:nvSpPr>
          <p:cNvPr id="723" name="Google Shape;723;p58"/>
          <p:cNvSpPr txBox="1"/>
          <p:nvPr/>
        </p:nvSpPr>
        <p:spPr>
          <a:xfrm>
            <a:off x="871538" y="2849798"/>
            <a:ext cx="4287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CC783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printf</a:t>
            </a:r>
            <a:endParaRPr sz="1100"/>
          </a:p>
        </p:txBody>
      </p:sp>
      <p:sp>
        <p:nvSpPr>
          <p:cNvPr id="724" name="Google Shape;724;p58"/>
          <p:cNvSpPr txBox="1"/>
          <p:nvPr/>
        </p:nvSpPr>
        <p:spPr>
          <a:xfrm>
            <a:off x="435769" y="684795"/>
            <a:ext cx="8686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400" u="none" cap="none" strike="noStrike">
                <a:solidFill>
                  <a:srgbClr val="00FF9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THE SOLUTION</a:t>
            </a:r>
            <a:endParaRPr sz="1100"/>
          </a:p>
        </p:txBody>
      </p:sp>
      <p:sp>
        <p:nvSpPr>
          <p:cNvPr id="725" name="Google Shape;725;p58"/>
          <p:cNvSpPr/>
          <p:nvPr/>
        </p:nvSpPr>
        <p:spPr>
          <a:xfrm>
            <a:off x="435769" y="1227720"/>
            <a:ext cx="8272500" cy="72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729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730" name="Google Shape;730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31" name="Google Shape;731;p5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62993" y="1090091"/>
            <a:ext cx="6617902" cy="29632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32" name="Google Shape;732;p5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886088" y="3160328"/>
            <a:ext cx="1371600" cy="4500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33" name="Google Shape;733;p5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303997" y="1390129"/>
            <a:ext cx="535781" cy="428625"/>
          </a:xfrm>
          <a:prstGeom prst="rect">
            <a:avLst/>
          </a:prstGeom>
          <a:noFill/>
          <a:ln>
            <a:noFill/>
          </a:ln>
        </p:spPr>
      </p:pic>
      <p:sp>
        <p:nvSpPr>
          <p:cNvPr id="734" name="Google Shape;734;p59"/>
          <p:cNvSpPr txBox="1"/>
          <p:nvPr/>
        </p:nvSpPr>
        <p:spPr>
          <a:xfrm>
            <a:off x="1563030" y="1961629"/>
            <a:ext cx="6018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00FF9D"/>
                </a:solidFill>
                <a:latin typeface="Inter"/>
                <a:ea typeface="Inter"/>
                <a:cs typeface="Inter"/>
                <a:sym typeface="Inter"/>
              </a:rPr>
              <a:t>PROBLEM SET 1</a:t>
            </a:r>
            <a:endParaRPr sz="1100"/>
          </a:p>
        </p:txBody>
      </p:sp>
      <p:sp>
        <p:nvSpPr>
          <p:cNvPr id="735" name="Google Shape;735;p59"/>
          <p:cNvSpPr txBox="1"/>
          <p:nvPr/>
        </p:nvSpPr>
        <p:spPr>
          <a:xfrm>
            <a:off x="1563030" y="2297385"/>
            <a:ext cx="60180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AAAAA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Apply what you've learned.</a:t>
            </a:r>
            <a:endParaRPr sz="1100"/>
          </a:p>
        </p:txBody>
      </p:sp>
      <p:sp>
        <p:nvSpPr>
          <p:cNvPr id="736" name="Google Shape;736;p59"/>
          <p:cNvSpPr txBox="1"/>
          <p:nvPr/>
        </p:nvSpPr>
        <p:spPr>
          <a:xfrm>
            <a:off x="1563030" y="2645978"/>
            <a:ext cx="60180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AAAAA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Mission: Build a </a:t>
            </a:r>
            <a:r>
              <a:rPr lang="en" sz="1100">
                <a:solidFill>
                  <a:srgbClr val="AAAAA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cash program</a:t>
            </a:r>
            <a:r>
              <a:rPr b="0" i="0" lang="en" sz="1100" u="none" cap="none" strike="noStrike">
                <a:solidFill>
                  <a:srgbClr val="AAAAA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in C.</a:t>
            </a:r>
            <a:endParaRPr sz="110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740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741" name="Google Shape;741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42" name="Google Shape;742;p6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62993" y="1090091"/>
            <a:ext cx="6617902" cy="29632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43" name="Google Shape;743;p6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886088" y="3160328"/>
            <a:ext cx="1371600" cy="4500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44" name="Google Shape;744;p6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303997" y="1390129"/>
            <a:ext cx="535781" cy="428625"/>
          </a:xfrm>
          <a:prstGeom prst="rect">
            <a:avLst/>
          </a:prstGeom>
          <a:noFill/>
          <a:ln>
            <a:noFill/>
          </a:ln>
        </p:spPr>
      </p:pic>
      <p:sp>
        <p:nvSpPr>
          <p:cNvPr id="745" name="Google Shape;745;p60"/>
          <p:cNvSpPr txBox="1"/>
          <p:nvPr/>
        </p:nvSpPr>
        <p:spPr>
          <a:xfrm>
            <a:off x="1563030" y="1961629"/>
            <a:ext cx="6018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00FF9D"/>
                </a:solidFill>
                <a:latin typeface="Inter"/>
                <a:ea typeface="Inter"/>
                <a:cs typeface="Inter"/>
                <a:sym typeface="Inter"/>
              </a:rPr>
              <a:t>PROBLEM SET </a:t>
            </a:r>
            <a:r>
              <a:rPr b="1" lang="en">
                <a:solidFill>
                  <a:srgbClr val="00FF9D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endParaRPr sz="1100"/>
          </a:p>
        </p:txBody>
      </p:sp>
      <p:sp>
        <p:nvSpPr>
          <p:cNvPr id="746" name="Google Shape;746;p60"/>
          <p:cNvSpPr txBox="1"/>
          <p:nvPr/>
        </p:nvSpPr>
        <p:spPr>
          <a:xfrm>
            <a:off x="1563030" y="2297385"/>
            <a:ext cx="60180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AAAAA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Apply what you've learned.</a:t>
            </a:r>
            <a:endParaRPr sz="1100"/>
          </a:p>
        </p:txBody>
      </p:sp>
      <p:sp>
        <p:nvSpPr>
          <p:cNvPr id="747" name="Google Shape;747;p60"/>
          <p:cNvSpPr txBox="1"/>
          <p:nvPr/>
        </p:nvSpPr>
        <p:spPr>
          <a:xfrm>
            <a:off x="1563030" y="2645978"/>
            <a:ext cx="60180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AAAAA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Mission: Build a </a:t>
            </a:r>
            <a:r>
              <a:rPr lang="en" sz="1100">
                <a:solidFill>
                  <a:srgbClr val="AAAAA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Caesar Cipher</a:t>
            </a:r>
            <a:r>
              <a:rPr b="0" i="0" lang="en" sz="1100" u="none" cap="none" strike="noStrike">
                <a:solidFill>
                  <a:srgbClr val="AAAAA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in C.</a:t>
            </a:r>
            <a:endParaRPr sz="110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75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752" name="Google Shape;752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53" name="Google Shape;753;p61"/>
          <p:cNvSpPr txBox="1"/>
          <p:nvPr/>
        </p:nvSpPr>
        <p:spPr>
          <a:xfrm>
            <a:off x="1571625" y="1650987"/>
            <a:ext cx="6000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34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You Are Now </a:t>
            </a:r>
            <a:r>
              <a:rPr b="1" i="0" lang="en" sz="3400" u="none" cap="none" strike="noStrike">
                <a:solidFill>
                  <a:srgbClr val="00FF9D"/>
                </a:solidFill>
                <a:latin typeface="Inter"/>
                <a:ea typeface="Inter"/>
                <a:cs typeface="Inter"/>
                <a:sym typeface="Inter"/>
              </a:rPr>
              <a:t>Mechanics</a:t>
            </a:r>
            <a:endParaRPr sz="1100"/>
          </a:p>
        </p:txBody>
      </p:sp>
      <p:sp>
        <p:nvSpPr>
          <p:cNvPr id="754" name="Google Shape;754;p61"/>
          <p:cNvSpPr txBox="1"/>
          <p:nvPr/>
        </p:nvSpPr>
        <p:spPr>
          <a:xfrm>
            <a:off x="1714500" y="2521074"/>
            <a:ext cx="5715000" cy="5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A3A3A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You aren't just driving the car anymore. You know how the engine combusts.</a:t>
            </a:r>
            <a:endParaRPr sz="1100"/>
          </a:p>
        </p:txBody>
      </p:sp>
      <p:sp>
        <p:nvSpPr>
          <p:cNvPr id="755" name="Google Shape;755;p61"/>
          <p:cNvSpPr txBox="1"/>
          <p:nvPr/>
        </p:nvSpPr>
        <p:spPr>
          <a:xfrm>
            <a:off x="1571625" y="3498205"/>
            <a:ext cx="60009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600" u="none" cap="none" strike="noStrike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rPr>
              <a:t>// END_OF_SESSION</a:t>
            </a:r>
            <a:endParaRPr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